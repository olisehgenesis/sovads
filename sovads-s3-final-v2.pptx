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0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0D0D"/>
          </a:solidFill>
          <a:ln w="12700">
            <a:solidFill>
              <a:srgbClr val="0D0D0D"/>
            </a:solidFill>
            <a:prstDash val="solid"/>
          </a:ln>
        </p:spPr>
      </p:sp>
      <p:sp>
        <p:nvSpPr>
          <p:cNvPr id="3" name="Text 1"/>
          <p:cNvSpPr/>
          <p:nvPr/>
        </p:nvSpPr>
        <p:spPr>
          <a:xfrm>
            <a:off x="365760" y="0"/>
            <a:ext cx="2743200" cy="475488"/>
          </a:xfrm>
          <a:prstGeom prst="rect">
            <a:avLst/>
          </a:prstGeom>
          <a:noFill/>
          <a:ln/>
        </p:spPr>
        <p:txBody>
          <a:bodyPr wrap="square" lIns="0" tIns="0" rIns="0" bIns="0" rtlCol="0" anchor="ctr"/>
          <a:lstStyle/>
          <a:p>
            <a:pPr indent="0" marL="0">
              <a:buNone/>
            </a:pPr>
            <a:r>
              <a:rPr lang="en-US" sz="1200" b="1" dirty="0">
                <a:solidFill>
                  <a:srgbClr val="FFC400"/>
                </a:solidFill>
                <a:latin typeface="Arial Black" pitchFamily="34" charset="0"/>
                <a:ea typeface="Arial Black" pitchFamily="34" charset="-122"/>
                <a:cs typeface="Arial Black" pitchFamily="34" charset="-120"/>
              </a:rPr>
              <a:t>SOVADS</a:t>
            </a:r>
            <a:endParaRPr lang="en-US" sz="1200" dirty="0"/>
          </a:p>
        </p:txBody>
      </p:sp>
      <p:sp>
        <p:nvSpPr>
          <p:cNvPr id="4" name="Text 2"/>
          <p:cNvSpPr/>
          <p:nvPr/>
        </p:nvSpPr>
        <p:spPr>
          <a:xfrm>
            <a:off x="3200400" y="0"/>
            <a:ext cx="5577840" cy="475488"/>
          </a:xfrm>
          <a:prstGeom prst="rect">
            <a:avLst/>
          </a:prstGeom>
          <a:noFill/>
          <a:ln/>
        </p:spPr>
        <p:txBody>
          <a:bodyPr wrap="square" lIns="0" tIns="0" rIns="0" bIns="0" rtlCol="0" anchor="ctr"/>
          <a:lstStyle/>
          <a:p>
            <a:pPr algn="r" indent="0" marL="0">
              <a:buNone/>
            </a:pPr>
            <a:r>
              <a:rPr lang="en-US" sz="800" dirty="0">
                <a:solidFill>
                  <a:srgbClr val="888888"/>
                </a:solidFill>
                <a:latin typeface="Courier New" pitchFamily="34" charset="0"/>
                <a:ea typeface="Courier New" pitchFamily="34" charset="-122"/>
                <a:cs typeface="Courier New" pitchFamily="34" charset="-120"/>
              </a:rPr>
              <a:t>GOODBUILDERS S3  ·  MAY 2026</a:t>
            </a:r>
            <a:endParaRPr lang="en-US" sz="800" dirty="0"/>
          </a:p>
        </p:txBody>
      </p:sp>
      <p:sp>
        <p:nvSpPr>
          <p:cNvPr id="5" name="Text 3"/>
          <p:cNvSpPr/>
          <p:nvPr/>
        </p:nvSpPr>
        <p:spPr>
          <a:xfrm>
            <a:off x="365760" y="594360"/>
            <a:ext cx="8412480" cy="658368"/>
          </a:xfrm>
          <a:prstGeom prst="rect">
            <a:avLst/>
          </a:prstGeom>
          <a:noFill/>
          <a:ln/>
        </p:spPr>
        <p:txBody>
          <a:bodyPr wrap="square" lIns="0" tIns="0" rIns="0" bIns="0" rtlCol="0" anchor="ctr"/>
          <a:lstStyle/>
          <a:p>
            <a:pPr indent="0" marL="0">
              <a:buNone/>
            </a:pPr>
            <a:r>
              <a:rPr lang="en-US" sz="4600" b="1" dirty="0">
                <a:solidFill>
                  <a:srgbClr val="0D0D0D"/>
                </a:solidFill>
                <a:latin typeface="Arial Black" pitchFamily="34" charset="0"/>
                <a:ea typeface="Arial Black" pitchFamily="34" charset="-122"/>
                <a:cs typeface="Arial Black" pitchFamily="34" charset="-120"/>
              </a:rPr>
              <a:t>DECENTRALISED ADS.</a:t>
            </a:r>
            <a:endParaRPr lang="en-US" sz="4600" dirty="0"/>
          </a:p>
        </p:txBody>
      </p:sp>
      <p:sp>
        <p:nvSpPr>
          <p:cNvPr id="6" name="Text 4"/>
          <p:cNvSpPr/>
          <p:nvPr/>
        </p:nvSpPr>
        <p:spPr>
          <a:xfrm>
            <a:off x="365760" y="1234440"/>
            <a:ext cx="8412480" cy="594360"/>
          </a:xfrm>
          <a:prstGeom prst="rect">
            <a:avLst/>
          </a:prstGeom>
          <a:noFill/>
          <a:ln/>
        </p:spPr>
        <p:txBody>
          <a:bodyPr wrap="square" lIns="0" tIns="0" rIns="0" bIns="0" rtlCol="0" anchor="ctr"/>
          <a:lstStyle/>
          <a:p>
            <a:pPr indent="0" marL="0">
              <a:buNone/>
            </a:pPr>
            <a:r>
              <a:rPr lang="en-US" sz="3600" b="1" dirty="0">
                <a:solidFill>
                  <a:srgbClr val="FFC400"/>
                </a:solidFill>
                <a:latin typeface="Arial Black" pitchFamily="34" charset="0"/>
                <a:ea typeface="Arial Black" pitchFamily="34" charset="-122"/>
                <a:cs typeface="Arial Black" pitchFamily="34" charset="-120"/>
              </a:rPr>
              <a:t>MONETISE YOUR AUDIENCE.</a:t>
            </a:r>
            <a:endParaRPr lang="en-US" sz="3600" dirty="0"/>
          </a:p>
        </p:txBody>
      </p:sp>
      <p:sp>
        <p:nvSpPr>
          <p:cNvPr id="7" name="Text 5"/>
          <p:cNvSpPr/>
          <p:nvPr/>
        </p:nvSpPr>
        <p:spPr>
          <a:xfrm>
            <a:off x="365760" y="1810512"/>
            <a:ext cx="8412480" cy="594360"/>
          </a:xfrm>
          <a:prstGeom prst="rect">
            <a:avLst/>
          </a:prstGeom>
          <a:noFill/>
          <a:ln/>
        </p:spPr>
        <p:txBody>
          <a:bodyPr wrap="square" lIns="0" tIns="0" rIns="0" bIns="0" rtlCol="0" anchor="ctr"/>
          <a:lstStyle/>
          <a:p>
            <a:pPr indent="0" marL="0">
              <a:buNone/>
            </a:pPr>
            <a:r>
              <a:rPr lang="en-US" sz="3600" b="1" dirty="0">
                <a:solidFill>
                  <a:srgbClr val="00B8C4"/>
                </a:solidFill>
                <a:latin typeface="Arial Black" pitchFamily="34" charset="0"/>
                <a:ea typeface="Arial Black" pitchFamily="34" charset="-122"/>
                <a:cs typeface="Arial Black" pitchFamily="34" charset="-120"/>
              </a:rPr>
              <a:t>GET REWARDED.</a:t>
            </a:r>
            <a:endParaRPr lang="en-US" sz="3600" dirty="0"/>
          </a:p>
        </p:txBody>
      </p:sp>
      <p:sp>
        <p:nvSpPr>
          <p:cNvPr id="8" name="Shape 6"/>
          <p:cNvSpPr/>
          <p:nvPr/>
        </p:nvSpPr>
        <p:spPr>
          <a:xfrm>
            <a:off x="365760" y="2523744"/>
            <a:ext cx="8412480" cy="41148"/>
          </a:xfrm>
          <a:prstGeom prst="rect">
            <a:avLst/>
          </a:prstGeom>
          <a:solidFill>
            <a:srgbClr val="0D0D0D"/>
          </a:solidFill>
          <a:ln w="12700">
            <a:solidFill>
              <a:srgbClr val="0D0D0D"/>
            </a:solidFill>
            <a:prstDash val="solid"/>
          </a:ln>
        </p:spPr>
      </p:sp>
      <p:sp>
        <p:nvSpPr>
          <p:cNvPr id="9" name="Shape 7"/>
          <p:cNvSpPr/>
          <p:nvPr/>
        </p:nvSpPr>
        <p:spPr>
          <a:xfrm>
            <a:off x="365760" y="2651760"/>
            <a:ext cx="2688336" cy="2267712"/>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10" name="Shape 8"/>
          <p:cNvSpPr/>
          <p:nvPr/>
        </p:nvSpPr>
        <p:spPr>
          <a:xfrm>
            <a:off x="365760" y="2651760"/>
            <a:ext cx="2688336" cy="310896"/>
          </a:xfrm>
          <a:prstGeom prst="rect">
            <a:avLst/>
          </a:prstGeom>
          <a:solidFill>
            <a:srgbClr val="FFC400"/>
          </a:solidFill>
          <a:ln w="12700">
            <a:solidFill>
              <a:srgbClr val="0D0D0D"/>
            </a:solidFill>
            <a:prstDash val="solid"/>
          </a:ln>
        </p:spPr>
      </p:sp>
      <p:sp>
        <p:nvSpPr>
          <p:cNvPr id="11" name="Text 9"/>
          <p:cNvSpPr/>
          <p:nvPr/>
        </p:nvSpPr>
        <p:spPr>
          <a:xfrm>
            <a:off x="475488" y="2651760"/>
            <a:ext cx="2468880" cy="310896"/>
          </a:xfrm>
          <a:prstGeom prst="rect">
            <a:avLst/>
          </a:prstGeom>
          <a:noFill/>
          <a:ln/>
        </p:spPr>
        <p:txBody>
          <a:bodyPr wrap="square" lIns="0" tIns="0" rIns="0" bIns="0" rtlCol="0" anchor="ctr"/>
          <a:lstStyle/>
          <a:p>
            <a:pPr indent="0" marL="0">
              <a:buNone/>
            </a:pPr>
            <a:r>
              <a:rPr lang="en-US" sz="850" b="1" spc="200" kern="0" dirty="0">
                <a:solidFill>
                  <a:srgbClr val="0D0D0D"/>
                </a:solidFill>
                <a:latin typeface="Courier New" pitchFamily="34" charset="0"/>
                <a:ea typeface="Courier New" pitchFamily="34" charset="-122"/>
                <a:cs typeface="Courier New" pitchFamily="34" charset="-120"/>
              </a:rPr>
              <a:t>ADVERTISERS</a:t>
            </a:r>
            <a:endParaRPr lang="en-US" sz="850" dirty="0"/>
          </a:p>
        </p:txBody>
      </p:sp>
      <p:sp>
        <p:nvSpPr>
          <p:cNvPr id="12" name="Text 10"/>
          <p:cNvSpPr/>
          <p:nvPr/>
        </p:nvSpPr>
        <p:spPr>
          <a:xfrm>
            <a:off x="475488" y="3017520"/>
            <a:ext cx="2468880" cy="329184"/>
          </a:xfrm>
          <a:prstGeom prst="rect">
            <a:avLst/>
          </a:prstGeom>
          <a:noFill/>
          <a:ln/>
        </p:spPr>
        <p:txBody>
          <a:bodyPr wrap="square" lIns="0" tIns="0" rIns="0" bIns="0" rtlCol="0" anchor="ctr"/>
          <a:lstStyle/>
          <a:p>
            <a:pPr indent="0" marL="0">
              <a:buNone/>
            </a:pPr>
            <a:r>
              <a:rPr lang="en-US" sz="1400" b="1" dirty="0">
                <a:solidFill>
                  <a:srgbClr val="0D0D0D"/>
                </a:solidFill>
                <a:latin typeface="Arial Black" pitchFamily="34" charset="0"/>
                <a:ea typeface="Arial Black" pitchFamily="34" charset="-122"/>
                <a:cs typeface="Arial Black" pitchFamily="34" charset="-120"/>
              </a:rPr>
              <a:t>Pay for Real Reach</a:t>
            </a:r>
            <a:endParaRPr lang="en-US" sz="1400" dirty="0"/>
          </a:p>
        </p:txBody>
      </p:sp>
      <p:sp>
        <p:nvSpPr>
          <p:cNvPr id="13" name="Text 11"/>
          <p:cNvSpPr/>
          <p:nvPr/>
        </p:nvSpPr>
        <p:spPr>
          <a:xfrm>
            <a:off x="475488" y="3401568"/>
            <a:ext cx="2468880" cy="237744"/>
          </a:xfrm>
          <a:prstGeom prst="rect">
            <a:avLst/>
          </a:prstGeom>
          <a:noFill/>
          <a:ln/>
        </p:spPr>
        <p:txBody>
          <a:bodyPr wrap="square" lIns="0" tIns="0" rIns="0" bIns="0" rtlCol="0" anchor="ctr"/>
          <a:lstStyle/>
          <a:p>
            <a:pPr indent="0" marL="0">
              <a:buNone/>
            </a:pPr>
            <a:r>
              <a:rPr lang="en-US" sz="900" dirty="0">
                <a:solidFill>
                  <a:srgbClr val="888888"/>
                </a:solidFill>
                <a:latin typeface="Courier New" pitchFamily="34" charset="0"/>
                <a:ea typeface="Courier New" pitchFamily="34" charset="-122"/>
                <a:cs typeface="Courier New" pitchFamily="34" charset="-120"/>
              </a:rPr>
              <a:t>— On-chain verified impressions</a:t>
            </a:r>
            <a:endParaRPr lang="en-US" sz="900" dirty="0"/>
          </a:p>
        </p:txBody>
      </p:sp>
      <p:sp>
        <p:nvSpPr>
          <p:cNvPr id="14" name="Text 12"/>
          <p:cNvSpPr/>
          <p:nvPr/>
        </p:nvSpPr>
        <p:spPr>
          <a:xfrm>
            <a:off x="475488" y="3675888"/>
            <a:ext cx="2468880" cy="237744"/>
          </a:xfrm>
          <a:prstGeom prst="rect">
            <a:avLst/>
          </a:prstGeom>
          <a:noFill/>
          <a:ln/>
        </p:spPr>
        <p:txBody>
          <a:bodyPr wrap="square" lIns="0" tIns="0" rIns="0" bIns="0" rtlCol="0" anchor="ctr"/>
          <a:lstStyle/>
          <a:p>
            <a:pPr indent="0" marL="0">
              <a:buNone/>
            </a:pPr>
            <a:r>
              <a:rPr lang="en-US" sz="900" dirty="0">
                <a:solidFill>
                  <a:srgbClr val="888888"/>
                </a:solidFill>
                <a:latin typeface="Courier New" pitchFamily="34" charset="0"/>
                <a:ea typeface="Courier New" pitchFamily="34" charset="-122"/>
                <a:cs typeface="Courier New" pitchFamily="34" charset="-120"/>
              </a:rPr>
              <a:t>— No bots. No black boxes.</a:t>
            </a:r>
            <a:endParaRPr lang="en-US" sz="900" dirty="0"/>
          </a:p>
        </p:txBody>
      </p:sp>
      <p:sp>
        <p:nvSpPr>
          <p:cNvPr id="15" name="Text 13"/>
          <p:cNvSpPr/>
          <p:nvPr/>
        </p:nvSpPr>
        <p:spPr>
          <a:xfrm>
            <a:off x="475488" y="3950208"/>
            <a:ext cx="2468880" cy="237744"/>
          </a:xfrm>
          <a:prstGeom prst="rect">
            <a:avLst/>
          </a:prstGeom>
          <a:noFill/>
          <a:ln/>
        </p:spPr>
        <p:txBody>
          <a:bodyPr wrap="square" lIns="0" tIns="0" rIns="0" bIns="0" rtlCol="0" anchor="ctr"/>
          <a:lstStyle/>
          <a:p>
            <a:pPr indent="0" marL="0">
              <a:buNone/>
            </a:pPr>
            <a:r>
              <a:rPr lang="en-US" sz="900" dirty="0">
                <a:solidFill>
                  <a:srgbClr val="888888"/>
                </a:solidFill>
                <a:latin typeface="Courier New" pitchFamily="34" charset="0"/>
                <a:ea typeface="Courier New" pitchFamily="34" charset="-122"/>
                <a:cs typeface="Courier New" pitchFamily="34" charset="-120"/>
              </a:rPr>
              <a:t>— Full attribution to wallet</a:t>
            </a:r>
            <a:endParaRPr lang="en-US" sz="900" dirty="0"/>
          </a:p>
        </p:txBody>
      </p:sp>
      <p:sp>
        <p:nvSpPr>
          <p:cNvPr id="16" name="Shape 14"/>
          <p:cNvSpPr/>
          <p:nvPr/>
        </p:nvSpPr>
        <p:spPr>
          <a:xfrm>
            <a:off x="3218688" y="2651760"/>
            <a:ext cx="2688336" cy="2267712"/>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17" name="Shape 15"/>
          <p:cNvSpPr/>
          <p:nvPr/>
        </p:nvSpPr>
        <p:spPr>
          <a:xfrm>
            <a:off x="3218688" y="2651760"/>
            <a:ext cx="2688336" cy="310896"/>
          </a:xfrm>
          <a:prstGeom prst="rect">
            <a:avLst/>
          </a:prstGeom>
          <a:solidFill>
            <a:srgbClr val="00B8C4"/>
          </a:solidFill>
          <a:ln w="12700">
            <a:solidFill>
              <a:srgbClr val="0D0D0D"/>
            </a:solidFill>
            <a:prstDash val="solid"/>
          </a:ln>
        </p:spPr>
      </p:sp>
      <p:sp>
        <p:nvSpPr>
          <p:cNvPr id="18" name="Text 16"/>
          <p:cNvSpPr/>
          <p:nvPr/>
        </p:nvSpPr>
        <p:spPr>
          <a:xfrm>
            <a:off x="3328416" y="2651760"/>
            <a:ext cx="2468880" cy="310896"/>
          </a:xfrm>
          <a:prstGeom prst="rect">
            <a:avLst/>
          </a:prstGeom>
          <a:noFill/>
          <a:ln/>
        </p:spPr>
        <p:txBody>
          <a:bodyPr wrap="square" lIns="0" tIns="0" rIns="0" bIns="0" rtlCol="0" anchor="ctr"/>
          <a:lstStyle/>
          <a:p>
            <a:pPr indent="0" marL="0">
              <a:buNone/>
            </a:pPr>
            <a:r>
              <a:rPr lang="en-US" sz="850" b="1" spc="200" kern="0" dirty="0">
                <a:solidFill>
                  <a:srgbClr val="0D0D0D"/>
                </a:solidFill>
                <a:latin typeface="Courier New" pitchFamily="34" charset="0"/>
                <a:ea typeface="Courier New" pitchFamily="34" charset="-122"/>
                <a:cs typeface="Courier New" pitchFamily="34" charset="-120"/>
              </a:rPr>
              <a:t>PUBLISHERS</a:t>
            </a:r>
            <a:endParaRPr lang="en-US" sz="850" dirty="0"/>
          </a:p>
        </p:txBody>
      </p:sp>
      <p:sp>
        <p:nvSpPr>
          <p:cNvPr id="19" name="Text 17"/>
          <p:cNvSpPr/>
          <p:nvPr/>
        </p:nvSpPr>
        <p:spPr>
          <a:xfrm>
            <a:off x="3328416" y="3017520"/>
            <a:ext cx="2468880" cy="329184"/>
          </a:xfrm>
          <a:prstGeom prst="rect">
            <a:avLst/>
          </a:prstGeom>
          <a:noFill/>
          <a:ln/>
        </p:spPr>
        <p:txBody>
          <a:bodyPr wrap="square" lIns="0" tIns="0" rIns="0" bIns="0" rtlCol="0" anchor="ctr"/>
          <a:lstStyle/>
          <a:p>
            <a:pPr indent="0" marL="0">
              <a:buNone/>
            </a:pPr>
            <a:r>
              <a:rPr lang="en-US" sz="1400" b="1" dirty="0">
                <a:solidFill>
                  <a:srgbClr val="0D0D0D"/>
                </a:solidFill>
                <a:latin typeface="Arial Black" pitchFamily="34" charset="0"/>
                <a:ea typeface="Arial Black" pitchFamily="34" charset="-122"/>
                <a:cs typeface="Arial Black" pitchFamily="34" charset="-120"/>
              </a:rPr>
              <a:t>Monetise Your Audience</a:t>
            </a:r>
            <a:endParaRPr lang="en-US" sz="1400" dirty="0"/>
          </a:p>
        </p:txBody>
      </p:sp>
      <p:sp>
        <p:nvSpPr>
          <p:cNvPr id="20" name="Text 18"/>
          <p:cNvSpPr/>
          <p:nvPr/>
        </p:nvSpPr>
        <p:spPr>
          <a:xfrm>
            <a:off x="3328416" y="3401568"/>
            <a:ext cx="2468880" cy="237744"/>
          </a:xfrm>
          <a:prstGeom prst="rect">
            <a:avLst/>
          </a:prstGeom>
          <a:noFill/>
          <a:ln/>
        </p:spPr>
        <p:txBody>
          <a:bodyPr wrap="square" lIns="0" tIns="0" rIns="0" bIns="0" rtlCol="0" anchor="ctr"/>
          <a:lstStyle/>
          <a:p>
            <a:pPr indent="0" marL="0">
              <a:buNone/>
            </a:pPr>
            <a:r>
              <a:rPr lang="en-US" sz="900" dirty="0">
                <a:solidFill>
                  <a:srgbClr val="888888"/>
                </a:solidFill>
                <a:latin typeface="Courier New" pitchFamily="34" charset="0"/>
                <a:ea typeface="Courier New" pitchFamily="34" charset="-122"/>
                <a:cs typeface="Courier New" pitchFamily="34" charset="-120"/>
              </a:rPr>
              <a:t>— Revenue share per impression</a:t>
            </a:r>
            <a:endParaRPr lang="en-US" sz="900" dirty="0"/>
          </a:p>
        </p:txBody>
      </p:sp>
      <p:sp>
        <p:nvSpPr>
          <p:cNvPr id="21" name="Text 19"/>
          <p:cNvSpPr/>
          <p:nvPr/>
        </p:nvSpPr>
        <p:spPr>
          <a:xfrm>
            <a:off x="3328416" y="3675888"/>
            <a:ext cx="2468880" cy="237744"/>
          </a:xfrm>
          <a:prstGeom prst="rect">
            <a:avLst/>
          </a:prstGeom>
          <a:noFill/>
          <a:ln/>
        </p:spPr>
        <p:txBody>
          <a:bodyPr wrap="square" lIns="0" tIns="0" rIns="0" bIns="0" rtlCol="0" anchor="ctr"/>
          <a:lstStyle/>
          <a:p>
            <a:pPr indent="0" marL="0">
              <a:buNone/>
            </a:pPr>
            <a:r>
              <a:rPr lang="en-US" sz="900" dirty="0">
                <a:solidFill>
                  <a:srgbClr val="888888"/>
                </a:solidFill>
                <a:latin typeface="Courier New" pitchFamily="34" charset="0"/>
                <a:ea typeface="Courier New" pitchFamily="34" charset="-122"/>
                <a:cs typeface="Courier New" pitchFamily="34" charset="-120"/>
              </a:rPr>
              <a:t>— Automatic on-chain payouts</a:t>
            </a:r>
            <a:endParaRPr lang="en-US" sz="900" dirty="0"/>
          </a:p>
        </p:txBody>
      </p:sp>
      <p:sp>
        <p:nvSpPr>
          <p:cNvPr id="22" name="Text 20"/>
          <p:cNvSpPr/>
          <p:nvPr/>
        </p:nvSpPr>
        <p:spPr>
          <a:xfrm>
            <a:off x="3328416" y="3950208"/>
            <a:ext cx="2468880" cy="237744"/>
          </a:xfrm>
          <a:prstGeom prst="rect">
            <a:avLst/>
          </a:prstGeom>
          <a:noFill/>
          <a:ln/>
        </p:spPr>
        <p:txBody>
          <a:bodyPr wrap="square" lIns="0" tIns="0" rIns="0" bIns="0" rtlCol="0" anchor="ctr"/>
          <a:lstStyle/>
          <a:p>
            <a:pPr indent="0" marL="0">
              <a:buNone/>
            </a:pPr>
            <a:r>
              <a:rPr lang="en-US" sz="900" dirty="0">
                <a:solidFill>
                  <a:srgbClr val="888888"/>
                </a:solidFill>
                <a:latin typeface="Courier New" pitchFamily="34" charset="0"/>
                <a:ea typeface="Courier New" pitchFamily="34" charset="-122"/>
                <a:cs typeface="Courier New" pitchFamily="34" charset="-120"/>
              </a:rPr>
              <a:t>— No trust damage to audience</a:t>
            </a:r>
            <a:endParaRPr lang="en-US" sz="900" dirty="0"/>
          </a:p>
        </p:txBody>
      </p:sp>
      <p:sp>
        <p:nvSpPr>
          <p:cNvPr id="23" name="Shape 21"/>
          <p:cNvSpPr/>
          <p:nvPr/>
        </p:nvSpPr>
        <p:spPr>
          <a:xfrm>
            <a:off x="6071616" y="2651760"/>
            <a:ext cx="2688336" cy="2267712"/>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24" name="Shape 22"/>
          <p:cNvSpPr/>
          <p:nvPr/>
        </p:nvSpPr>
        <p:spPr>
          <a:xfrm>
            <a:off x="6071616" y="2651760"/>
            <a:ext cx="2688336" cy="310896"/>
          </a:xfrm>
          <a:prstGeom prst="rect">
            <a:avLst/>
          </a:prstGeom>
          <a:solidFill>
            <a:srgbClr val="0D0D0D"/>
          </a:solidFill>
          <a:ln w="12700">
            <a:solidFill>
              <a:srgbClr val="0D0D0D"/>
            </a:solidFill>
            <a:prstDash val="solid"/>
          </a:ln>
        </p:spPr>
      </p:sp>
      <p:sp>
        <p:nvSpPr>
          <p:cNvPr id="25" name="Text 23"/>
          <p:cNvSpPr/>
          <p:nvPr/>
        </p:nvSpPr>
        <p:spPr>
          <a:xfrm>
            <a:off x="6181344" y="2651760"/>
            <a:ext cx="2468880" cy="310896"/>
          </a:xfrm>
          <a:prstGeom prst="rect">
            <a:avLst/>
          </a:prstGeom>
          <a:noFill/>
          <a:ln/>
        </p:spPr>
        <p:txBody>
          <a:bodyPr wrap="square" lIns="0" tIns="0" rIns="0" bIns="0" rtlCol="0" anchor="ctr"/>
          <a:lstStyle/>
          <a:p>
            <a:pPr indent="0" marL="0">
              <a:buNone/>
            </a:pPr>
            <a:r>
              <a:rPr lang="en-US" sz="850" b="1" spc="200" kern="0" dirty="0">
                <a:solidFill>
                  <a:srgbClr val="FFC400"/>
                </a:solidFill>
                <a:latin typeface="Courier New" pitchFamily="34" charset="0"/>
                <a:ea typeface="Courier New" pitchFamily="34" charset="-122"/>
                <a:cs typeface="Courier New" pitchFamily="34" charset="-120"/>
              </a:rPr>
              <a:t>USERS</a:t>
            </a:r>
            <a:endParaRPr lang="en-US" sz="850" dirty="0"/>
          </a:p>
        </p:txBody>
      </p:sp>
      <p:sp>
        <p:nvSpPr>
          <p:cNvPr id="26" name="Text 24"/>
          <p:cNvSpPr/>
          <p:nvPr/>
        </p:nvSpPr>
        <p:spPr>
          <a:xfrm>
            <a:off x="6181344" y="3017520"/>
            <a:ext cx="2468880" cy="329184"/>
          </a:xfrm>
          <a:prstGeom prst="rect">
            <a:avLst/>
          </a:prstGeom>
          <a:noFill/>
          <a:ln/>
        </p:spPr>
        <p:txBody>
          <a:bodyPr wrap="square" lIns="0" tIns="0" rIns="0" bIns="0" rtlCol="0" anchor="ctr"/>
          <a:lstStyle/>
          <a:p>
            <a:pPr indent="0" marL="0">
              <a:buNone/>
            </a:pPr>
            <a:r>
              <a:rPr lang="en-US" sz="1400" b="1" dirty="0">
                <a:solidFill>
                  <a:srgbClr val="0D0D0D"/>
                </a:solidFill>
                <a:latin typeface="Arial Black" pitchFamily="34" charset="0"/>
                <a:ea typeface="Arial Black" pitchFamily="34" charset="-122"/>
                <a:cs typeface="Arial Black" pitchFamily="34" charset="-120"/>
              </a:rPr>
              <a:t>Earn G$ Tokens</a:t>
            </a:r>
            <a:endParaRPr lang="en-US" sz="1400" dirty="0"/>
          </a:p>
        </p:txBody>
      </p:sp>
      <p:sp>
        <p:nvSpPr>
          <p:cNvPr id="27" name="Text 25"/>
          <p:cNvSpPr/>
          <p:nvPr/>
        </p:nvSpPr>
        <p:spPr>
          <a:xfrm>
            <a:off x="6181344" y="3401568"/>
            <a:ext cx="2468880" cy="237744"/>
          </a:xfrm>
          <a:prstGeom prst="rect">
            <a:avLst/>
          </a:prstGeom>
          <a:noFill/>
          <a:ln/>
        </p:spPr>
        <p:txBody>
          <a:bodyPr wrap="square" lIns="0" tIns="0" rIns="0" bIns="0" rtlCol="0" anchor="ctr"/>
          <a:lstStyle/>
          <a:p>
            <a:pPr indent="0" marL="0">
              <a:buNone/>
            </a:pPr>
            <a:r>
              <a:rPr lang="en-US" sz="900" dirty="0">
                <a:solidFill>
                  <a:srgbClr val="888888"/>
                </a:solidFill>
                <a:latin typeface="Courier New" pitchFamily="34" charset="0"/>
                <a:ea typeface="Courier New" pitchFamily="34" charset="-122"/>
                <a:cs typeface="Courier New" pitchFamily="34" charset="-120"/>
              </a:rPr>
              <a:t>— View ads → earn SovPoints</a:t>
            </a:r>
            <a:endParaRPr lang="en-US" sz="900" dirty="0"/>
          </a:p>
        </p:txBody>
      </p:sp>
      <p:sp>
        <p:nvSpPr>
          <p:cNvPr id="28" name="Text 26"/>
          <p:cNvSpPr/>
          <p:nvPr/>
        </p:nvSpPr>
        <p:spPr>
          <a:xfrm>
            <a:off x="6181344" y="3675888"/>
            <a:ext cx="2468880" cy="237744"/>
          </a:xfrm>
          <a:prstGeom prst="rect">
            <a:avLst/>
          </a:prstGeom>
          <a:noFill/>
          <a:ln/>
        </p:spPr>
        <p:txBody>
          <a:bodyPr wrap="square" lIns="0" tIns="0" rIns="0" bIns="0" rtlCol="0" anchor="ctr"/>
          <a:lstStyle/>
          <a:p>
            <a:pPr indent="0" marL="0">
              <a:buNone/>
            </a:pPr>
            <a:r>
              <a:rPr lang="en-US" sz="900" dirty="0">
                <a:solidFill>
                  <a:srgbClr val="888888"/>
                </a:solidFill>
                <a:latin typeface="Courier New" pitchFamily="34" charset="0"/>
                <a:ea typeface="Courier New" pitchFamily="34" charset="-122"/>
                <a:cs typeface="Courier New" pitchFamily="34" charset="-120"/>
              </a:rPr>
              <a:t>— Redeem real GoodDollar G$</a:t>
            </a:r>
            <a:endParaRPr lang="en-US" sz="900" dirty="0"/>
          </a:p>
        </p:txBody>
      </p:sp>
      <p:sp>
        <p:nvSpPr>
          <p:cNvPr id="29" name="Text 27"/>
          <p:cNvSpPr/>
          <p:nvPr/>
        </p:nvSpPr>
        <p:spPr>
          <a:xfrm>
            <a:off x="6181344" y="3950208"/>
            <a:ext cx="2468880" cy="237744"/>
          </a:xfrm>
          <a:prstGeom prst="rect">
            <a:avLst/>
          </a:prstGeom>
          <a:noFill/>
          <a:ln/>
        </p:spPr>
        <p:txBody>
          <a:bodyPr wrap="square" lIns="0" tIns="0" rIns="0" bIns="0" rtlCol="0" anchor="ctr"/>
          <a:lstStyle/>
          <a:p>
            <a:pPr indent="0" marL="0">
              <a:buNone/>
            </a:pPr>
            <a:r>
              <a:rPr lang="en-US" sz="900" dirty="0">
                <a:solidFill>
                  <a:srgbClr val="888888"/>
                </a:solidFill>
                <a:latin typeface="Courier New" pitchFamily="34" charset="0"/>
                <a:ea typeface="Courier New" pitchFamily="34" charset="-122"/>
                <a:cs typeface="Courier New" pitchFamily="34" charset="-120"/>
              </a:rPr>
              <a:t>— Self-custody. No friction.</a:t>
            </a:r>
            <a:endParaRPr lang="en-US" sz="900" dirty="0"/>
          </a:p>
        </p:txBody>
      </p:sp>
      <p:sp>
        <p:nvSpPr>
          <p:cNvPr id="30" name="Text 28"/>
          <p:cNvSpPr/>
          <p:nvPr/>
        </p:nvSpPr>
        <p:spPr>
          <a:xfrm>
            <a:off x="365760" y="4956048"/>
            <a:ext cx="4572000" cy="164592"/>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ads.sovseas.xyz</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C400"/>
          </a:solidFill>
          <a:ln w="12700">
            <a:solidFill>
              <a:srgbClr val="FFC400"/>
            </a:solidFill>
            <a:prstDash val="solid"/>
          </a:ln>
        </p:spPr>
      </p:sp>
      <p:sp>
        <p:nvSpPr>
          <p:cNvPr id="3" name="Text 1"/>
          <p:cNvSpPr/>
          <p:nvPr/>
        </p:nvSpPr>
        <p:spPr>
          <a:xfrm>
            <a:off x="384048" y="320040"/>
            <a:ext cx="8229600" cy="228600"/>
          </a:xfrm>
          <a:prstGeom prst="rect">
            <a:avLst/>
          </a:prstGeom>
          <a:noFill/>
          <a:ln/>
        </p:spPr>
        <p:txBody>
          <a:bodyPr wrap="square" lIns="0" tIns="0" rIns="0" bIns="0" rtlCol="0" anchor="ctr"/>
          <a:lstStyle/>
          <a:p>
            <a:pPr indent="0" marL="0">
              <a:buNone/>
            </a:pPr>
            <a:r>
              <a:rPr lang="en-US" sz="800" b="1" spc="200" kern="0" dirty="0">
                <a:solidFill>
                  <a:srgbClr val="FFC400"/>
                </a:solidFill>
                <a:latin typeface="Courier New" pitchFamily="34" charset="0"/>
                <a:ea typeface="Courier New" pitchFamily="34" charset="-122"/>
                <a:cs typeface="Courier New" pitchFamily="34" charset="-120"/>
              </a:rPr>
              <a:t>SOVADS  ·  GOODBUILDERS S3</a:t>
            </a:r>
            <a:endParaRPr lang="en-US" sz="800" dirty="0"/>
          </a:p>
        </p:txBody>
      </p:sp>
      <p:sp>
        <p:nvSpPr>
          <p:cNvPr id="4" name="Text 2"/>
          <p:cNvSpPr/>
          <p:nvPr/>
        </p:nvSpPr>
        <p:spPr>
          <a:xfrm>
            <a:off x="384048" y="621792"/>
            <a:ext cx="8229600" cy="804672"/>
          </a:xfrm>
          <a:prstGeom prst="rect">
            <a:avLst/>
          </a:prstGeom>
          <a:noFill/>
          <a:ln/>
        </p:spPr>
        <p:txBody>
          <a:bodyPr wrap="square" lIns="0" tIns="0" rIns="0" bIns="0" rtlCol="0" anchor="ctr"/>
          <a:lstStyle/>
          <a:p>
            <a:pPr indent="0" marL="0">
              <a:buNone/>
            </a:pPr>
            <a:r>
              <a:rPr lang="en-US" sz="7200" b="1" dirty="0">
                <a:solidFill>
                  <a:srgbClr val="FFFFFF"/>
                </a:solidFill>
                <a:latin typeface="Arial Black" pitchFamily="34" charset="0"/>
                <a:ea typeface="Arial Black" pitchFamily="34" charset="-122"/>
                <a:cs typeface="Arial Black" pitchFamily="34" charset="-120"/>
              </a:rPr>
              <a:t>SEASON 3</a:t>
            </a:r>
            <a:endParaRPr lang="en-US" sz="7200" dirty="0"/>
          </a:p>
        </p:txBody>
      </p:sp>
      <p:sp>
        <p:nvSpPr>
          <p:cNvPr id="5" name="Text 3"/>
          <p:cNvSpPr/>
          <p:nvPr/>
        </p:nvSpPr>
        <p:spPr>
          <a:xfrm>
            <a:off x="384048" y="1353312"/>
            <a:ext cx="8229600" cy="804672"/>
          </a:xfrm>
          <a:prstGeom prst="rect">
            <a:avLst/>
          </a:prstGeom>
          <a:noFill/>
          <a:ln/>
        </p:spPr>
        <p:txBody>
          <a:bodyPr wrap="square" lIns="0" tIns="0" rIns="0" bIns="0" rtlCol="0" anchor="ctr"/>
          <a:lstStyle/>
          <a:p>
            <a:pPr indent="0" marL="0">
              <a:buNone/>
            </a:pPr>
            <a:r>
              <a:rPr lang="en-US" sz="7200" b="1" dirty="0">
                <a:solidFill>
                  <a:srgbClr val="FFC400"/>
                </a:solidFill>
                <a:latin typeface="Arial Black" pitchFamily="34" charset="0"/>
                <a:ea typeface="Arial Black" pitchFamily="34" charset="-122"/>
                <a:cs typeface="Arial Black" pitchFamily="34" charset="-120"/>
              </a:rPr>
              <a:t>FINAL ARC.</a:t>
            </a:r>
            <a:endParaRPr lang="en-US" sz="7200" dirty="0"/>
          </a:p>
        </p:txBody>
      </p:sp>
      <p:sp>
        <p:nvSpPr>
          <p:cNvPr id="6" name="Shape 4"/>
          <p:cNvSpPr/>
          <p:nvPr/>
        </p:nvSpPr>
        <p:spPr>
          <a:xfrm>
            <a:off x="384048" y="2286000"/>
            <a:ext cx="8394192" cy="41148"/>
          </a:xfrm>
          <a:prstGeom prst="rect">
            <a:avLst/>
          </a:prstGeom>
          <a:solidFill>
            <a:srgbClr val="FFC400"/>
          </a:solidFill>
          <a:ln w="12700">
            <a:solidFill>
              <a:srgbClr val="FFC400"/>
            </a:solidFill>
            <a:prstDash val="solid"/>
          </a:ln>
        </p:spPr>
      </p:sp>
      <p:sp>
        <p:nvSpPr>
          <p:cNvPr id="7" name="Text 5"/>
          <p:cNvSpPr/>
          <p:nvPr/>
        </p:nvSpPr>
        <p:spPr>
          <a:xfrm>
            <a:off x="384048" y="2423160"/>
            <a:ext cx="7315200" cy="685800"/>
          </a:xfrm>
          <a:prstGeom prst="rect">
            <a:avLst/>
          </a:prstGeom>
          <a:noFill/>
          <a:ln/>
        </p:spPr>
        <p:txBody>
          <a:bodyPr wrap="square" lIns="0" tIns="0" rIns="0" bIns="0"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What we built. What we proved.</a:t>
            </a:r>
            <a:endParaRPr lang="en-US" sz="1600" dirty="0"/>
          </a:p>
          <a:p>
            <a:pPr indent="0" marL="0">
              <a:buNone/>
            </a:pPr>
            <a:r>
              <a:rPr lang="en-US" sz="1600" b="1" dirty="0">
                <a:solidFill>
                  <a:srgbClr val="FFFFFF"/>
                </a:solidFill>
                <a:latin typeface="Arial Black" pitchFamily="34" charset="0"/>
                <a:ea typeface="Arial Black" pitchFamily="34" charset="-122"/>
                <a:cs typeface="Arial Black" pitchFamily="34" charset="-120"/>
              </a:rPr>
              <a:t>What we didn't do — and why.</a:t>
            </a:r>
            <a:endParaRPr lang="en-US" sz="1600" dirty="0"/>
          </a:p>
        </p:txBody>
      </p:sp>
      <p:sp>
        <p:nvSpPr>
          <p:cNvPr id="8" name="Text 6"/>
          <p:cNvSpPr/>
          <p:nvPr/>
        </p:nvSpPr>
        <p:spPr>
          <a:xfrm>
            <a:off x="384048" y="3200400"/>
            <a:ext cx="8229600" cy="201168"/>
          </a:xfrm>
          <a:prstGeom prst="rect">
            <a:avLst/>
          </a:prstGeom>
          <a:noFill/>
          <a:ln/>
        </p:spPr>
        <p:txBody>
          <a:bodyPr wrap="square" lIns="0" tIns="0" rIns="0" bIns="0" rtlCol="0" anchor="ctr"/>
          <a:lstStyle/>
          <a:p>
            <a:pPr indent="0" marL="0">
              <a:buNone/>
            </a:pPr>
            <a:r>
              <a:rPr lang="en-US" sz="800" spc="200" kern="0" dirty="0">
                <a:solidFill>
                  <a:srgbClr val="888888"/>
                </a:solidFill>
                <a:latin typeface="Courier New" pitchFamily="34" charset="0"/>
                <a:ea typeface="Courier New" pitchFamily="34" charset="-122"/>
                <a:cs typeface="Courier New" pitchFamily="34" charset="-120"/>
              </a:rPr>
              <a:t>MAY 2026  ·  GOODBUILDERS SEASON 3 CLOSE</a:t>
            </a:r>
            <a:endParaRPr lang="en-US" sz="800" dirty="0"/>
          </a:p>
        </p:txBody>
      </p:sp>
      <p:sp>
        <p:nvSpPr>
          <p:cNvPr id="9" name="Shape 7"/>
          <p:cNvSpPr/>
          <p:nvPr/>
        </p:nvSpPr>
        <p:spPr>
          <a:xfrm>
            <a:off x="384048" y="3566160"/>
            <a:ext cx="2633472" cy="1389888"/>
          </a:xfrm>
          <a:prstGeom prst="rect">
            <a:avLst/>
          </a:prstGeom>
          <a:solidFill>
            <a:srgbClr val="1A1A1A"/>
          </a:solidFill>
          <a:ln w="31750">
            <a:solidFill>
              <a:srgbClr val="FFC400"/>
            </a:solidFill>
            <a:prstDash val="solid"/>
          </a:ln>
          <a:effectLst>
            <a:outerShdw sx="100000" sy="100000" kx="0" ky="0" algn="bl" rotWithShape="0" blurRad="101600" dist="63500" dir="8100000">
              <a:srgbClr val="000000">
                <a:alpha val="100000"/>
              </a:srgbClr>
            </a:outerShdw>
          </a:effectLst>
        </p:spPr>
      </p:sp>
      <p:sp>
        <p:nvSpPr>
          <p:cNvPr id="10" name="Shape 8"/>
          <p:cNvSpPr/>
          <p:nvPr/>
        </p:nvSpPr>
        <p:spPr>
          <a:xfrm>
            <a:off x="384048" y="3566160"/>
            <a:ext cx="2633472" cy="274320"/>
          </a:xfrm>
          <a:prstGeom prst="rect">
            <a:avLst/>
          </a:prstGeom>
          <a:solidFill>
            <a:srgbClr val="FFC400"/>
          </a:solidFill>
          <a:ln w="12700">
            <a:solidFill>
              <a:srgbClr val="FFC400"/>
            </a:solidFill>
            <a:prstDash val="solid"/>
          </a:ln>
        </p:spPr>
      </p:sp>
      <p:sp>
        <p:nvSpPr>
          <p:cNvPr id="11" name="Text 9"/>
          <p:cNvSpPr/>
          <p:nvPr/>
        </p:nvSpPr>
        <p:spPr>
          <a:xfrm>
            <a:off x="384048" y="3566160"/>
            <a:ext cx="2633472" cy="274320"/>
          </a:xfrm>
          <a:prstGeom prst="rect">
            <a:avLst/>
          </a:prstGeom>
          <a:noFill/>
          <a:ln/>
        </p:spPr>
        <p:txBody>
          <a:bodyPr wrap="square" lIns="0" tIns="0" rIns="0" bIns="0" rtlCol="0" anchor="ctr"/>
          <a:lstStyle/>
          <a:p>
            <a:pPr algn="ctr" indent="0" marL="0">
              <a:buNone/>
            </a:pPr>
            <a:r>
              <a:rPr lang="en-US" sz="700" b="1" dirty="0">
                <a:solidFill>
                  <a:srgbClr val="0D0D0D"/>
                </a:solidFill>
                <a:latin typeface="Courier New" pitchFamily="34" charset="0"/>
                <a:ea typeface="Courier New" pitchFamily="34" charset="-122"/>
                <a:cs typeface="Courier New" pitchFamily="34" charset="-120"/>
              </a:rPr>
              <a:t>MILESTONES</a:t>
            </a:r>
            <a:endParaRPr lang="en-US" sz="700" dirty="0"/>
          </a:p>
          <a:p>
            <a:pPr algn="ctr" indent="0" marL="0">
              <a:buNone/>
            </a:pPr>
            <a:r>
              <a:rPr lang="en-US" sz="700" b="1" dirty="0">
                <a:solidFill>
                  <a:srgbClr val="0D0D0D"/>
                </a:solidFill>
                <a:latin typeface="Courier New" pitchFamily="34" charset="0"/>
                <a:ea typeface="Courier New" pitchFamily="34" charset="-122"/>
                <a:cs typeface="Courier New" pitchFamily="34" charset="-120"/>
              </a:rPr>
              <a:t>REACHED</a:t>
            </a:r>
            <a:endParaRPr lang="en-US" sz="700" dirty="0"/>
          </a:p>
        </p:txBody>
      </p:sp>
      <p:sp>
        <p:nvSpPr>
          <p:cNvPr id="12" name="Text 10"/>
          <p:cNvSpPr/>
          <p:nvPr/>
        </p:nvSpPr>
        <p:spPr>
          <a:xfrm>
            <a:off x="384048" y="3886200"/>
            <a:ext cx="2633472" cy="804672"/>
          </a:xfrm>
          <a:prstGeom prst="rect">
            <a:avLst/>
          </a:prstGeom>
          <a:noFill/>
          <a:ln/>
        </p:spPr>
        <p:txBody>
          <a:bodyPr wrap="square" lIns="0" tIns="0" rIns="0" bIns="0"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6/6</a:t>
            </a:r>
            <a:endParaRPr lang="en-US" sz="4000" dirty="0"/>
          </a:p>
        </p:txBody>
      </p:sp>
      <p:sp>
        <p:nvSpPr>
          <p:cNvPr id="13" name="Shape 11"/>
          <p:cNvSpPr/>
          <p:nvPr/>
        </p:nvSpPr>
        <p:spPr>
          <a:xfrm>
            <a:off x="3218688" y="3566160"/>
            <a:ext cx="2633472" cy="1389888"/>
          </a:xfrm>
          <a:prstGeom prst="rect">
            <a:avLst/>
          </a:prstGeom>
          <a:solidFill>
            <a:srgbClr val="1A1A1A"/>
          </a:solidFill>
          <a:ln w="31750">
            <a:solidFill>
              <a:srgbClr val="00B8C4"/>
            </a:solidFill>
            <a:prstDash val="solid"/>
          </a:ln>
          <a:effectLst>
            <a:outerShdw sx="100000" sy="100000" kx="0" ky="0" algn="bl" rotWithShape="0" blurRad="101600" dist="63500" dir="8100000">
              <a:srgbClr val="000000">
                <a:alpha val="100000"/>
              </a:srgbClr>
            </a:outerShdw>
          </a:effectLst>
        </p:spPr>
      </p:sp>
      <p:sp>
        <p:nvSpPr>
          <p:cNvPr id="14" name="Shape 12"/>
          <p:cNvSpPr/>
          <p:nvPr/>
        </p:nvSpPr>
        <p:spPr>
          <a:xfrm>
            <a:off x="3218688" y="3566160"/>
            <a:ext cx="2633472" cy="274320"/>
          </a:xfrm>
          <a:prstGeom prst="rect">
            <a:avLst/>
          </a:prstGeom>
          <a:solidFill>
            <a:srgbClr val="00B8C4"/>
          </a:solidFill>
          <a:ln w="12700">
            <a:solidFill>
              <a:srgbClr val="00B8C4"/>
            </a:solidFill>
            <a:prstDash val="solid"/>
          </a:ln>
        </p:spPr>
      </p:sp>
      <p:sp>
        <p:nvSpPr>
          <p:cNvPr id="15" name="Text 13"/>
          <p:cNvSpPr/>
          <p:nvPr/>
        </p:nvSpPr>
        <p:spPr>
          <a:xfrm>
            <a:off x="3218688" y="3566160"/>
            <a:ext cx="2633472" cy="274320"/>
          </a:xfrm>
          <a:prstGeom prst="rect">
            <a:avLst/>
          </a:prstGeom>
          <a:noFill/>
          <a:ln/>
        </p:spPr>
        <p:txBody>
          <a:bodyPr wrap="square" lIns="0" tIns="0" rIns="0" bIns="0" rtlCol="0" anchor="ctr"/>
          <a:lstStyle/>
          <a:p>
            <a:pPr algn="ctr" indent="0" marL="0">
              <a:buNone/>
            </a:pPr>
            <a:r>
              <a:rPr lang="en-US" sz="700" b="1" dirty="0">
                <a:solidFill>
                  <a:srgbClr val="0D0D0D"/>
                </a:solidFill>
                <a:latin typeface="Courier New" pitchFamily="34" charset="0"/>
                <a:ea typeface="Courier New" pitchFamily="34" charset="-122"/>
                <a:cs typeface="Courier New" pitchFamily="34" charset="-120"/>
              </a:rPr>
              <a:t>LIVE</a:t>
            </a:r>
            <a:endParaRPr lang="en-US" sz="700" dirty="0"/>
          </a:p>
          <a:p>
            <a:pPr algn="ctr" indent="0" marL="0">
              <a:buNone/>
            </a:pPr>
            <a:r>
              <a:rPr lang="en-US" sz="700" b="1" dirty="0">
                <a:solidFill>
                  <a:srgbClr val="0D0D0D"/>
                </a:solidFill>
                <a:latin typeface="Courier New" pitchFamily="34" charset="0"/>
                <a:ea typeface="Courier New" pitchFamily="34" charset="-122"/>
                <a:cs typeface="Courier New" pitchFamily="34" charset="-120"/>
              </a:rPr>
              <a:t>CAMPAIGNS</a:t>
            </a:r>
            <a:endParaRPr lang="en-US" sz="700" dirty="0"/>
          </a:p>
        </p:txBody>
      </p:sp>
      <p:sp>
        <p:nvSpPr>
          <p:cNvPr id="16" name="Text 14"/>
          <p:cNvSpPr/>
          <p:nvPr/>
        </p:nvSpPr>
        <p:spPr>
          <a:xfrm>
            <a:off x="3218688" y="3886200"/>
            <a:ext cx="2633472" cy="804672"/>
          </a:xfrm>
          <a:prstGeom prst="rect">
            <a:avLst/>
          </a:prstGeom>
          <a:noFill/>
          <a:ln/>
        </p:spPr>
        <p:txBody>
          <a:bodyPr wrap="square" lIns="0" tIns="0" rIns="0" bIns="0"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12</a:t>
            </a:r>
            <a:endParaRPr lang="en-US" sz="4000" dirty="0"/>
          </a:p>
        </p:txBody>
      </p:sp>
      <p:sp>
        <p:nvSpPr>
          <p:cNvPr id="17" name="Shape 15"/>
          <p:cNvSpPr/>
          <p:nvPr/>
        </p:nvSpPr>
        <p:spPr>
          <a:xfrm>
            <a:off x="6053328" y="3566160"/>
            <a:ext cx="2633472" cy="1389888"/>
          </a:xfrm>
          <a:prstGeom prst="rect">
            <a:avLst/>
          </a:prstGeom>
          <a:solidFill>
            <a:srgbClr val="1A1A1A"/>
          </a:solidFill>
          <a:ln w="31750">
            <a:solidFill>
              <a:srgbClr val="FFC400"/>
            </a:solidFill>
            <a:prstDash val="solid"/>
          </a:ln>
          <a:effectLst>
            <a:outerShdw sx="100000" sy="100000" kx="0" ky="0" algn="bl" rotWithShape="0" blurRad="101600" dist="63500" dir="8100000">
              <a:srgbClr val="000000">
                <a:alpha val="100000"/>
              </a:srgbClr>
            </a:outerShdw>
          </a:effectLst>
        </p:spPr>
      </p:sp>
      <p:sp>
        <p:nvSpPr>
          <p:cNvPr id="18" name="Shape 16"/>
          <p:cNvSpPr/>
          <p:nvPr/>
        </p:nvSpPr>
        <p:spPr>
          <a:xfrm>
            <a:off x="6053328" y="3566160"/>
            <a:ext cx="2633472" cy="274320"/>
          </a:xfrm>
          <a:prstGeom prst="rect">
            <a:avLst/>
          </a:prstGeom>
          <a:solidFill>
            <a:srgbClr val="FFC400"/>
          </a:solidFill>
          <a:ln w="12700">
            <a:solidFill>
              <a:srgbClr val="FFC400"/>
            </a:solidFill>
            <a:prstDash val="solid"/>
          </a:ln>
        </p:spPr>
      </p:sp>
      <p:sp>
        <p:nvSpPr>
          <p:cNvPr id="19" name="Text 17"/>
          <p:cNvSpPr/>
          <p:nvPr/>
        </p:nvSpPr>
        <p:spPr>
          <a:xfrm>
            <a:off x="6053328" y="3566160"/>
            <a:ext cx="2633472" cy="274320"/>
          </a:xfrm>
          <a:prstGeom prst="rect">
            <a:avLst/>
          </a:prstGeom>
          <a:noFill/>
          <a:ln/>
        </p:spPr>
        <p:txBody>
          <a:bodyPr wrap="square" lIns="0" tIns="0" rIns="0" bIns="0" rtlCol="0" anchor="ctr"/>
          <a:lstStyle/>
          <a:p>
            <a:pPr algn="ctr" indent="0" marL="0">
              <a:buNone/>
            </a:pPr>
            <a:r>
              <a:rPr lang="en-US" sz="700" b="1" dirty="0">
                <a:solidFill>
                  <a:srgbClr val="0D0D0D"/>
                </a:solidFill>
                <a:latin typeface="Courier New" pitchFamily="34" charset="0"/>
                <a:ea typeface="Courier New" pitchFamily="34" charset="-122"/>
                <a:cs typeface="Courier New" pitchFamily="34" charset="-120"/>
              </a:rPr>
              <a:t>GS</a:t>
            </a:r>
            <a:endParaRPr lang="en-US" sz="700" dirty="0"/>
          </a:p>
          <a:p>
            <a:pPr algn="ctr" indent="0" marL="0">
              <a:buNone/>
            </a:pPr>
            <a:r>
              <a:rPr lang="en-US" sz="700" b="1" dirty="0">
                <a:solidFill>
                  <a:srgbClr val="0D0D0D"/>
                </a:solidFill>
                <a:latin typeface="Courier New" pitchFamily="34" charset="0"/>
                <a:ea typeface="Courier New" pitchFamily="34" charset="-122"/>
                <a:cs typeface="Courier New" pitchFamily="34" charset="-120"/>
              </a:rPr>
              <a:t>REDEEMED</a:t>
            </a:r>
            <a:endParaRPr lang="en-US" sz="700" dirty="0"/>
          </a:p>
        </p:txBody>
      </p:sp>
      <p:sp>
        <p:nvSpPr>
          <p:cNvPr id="20" name="Text 18"/>
          <p:cNvSpPr/>
          <p:nvPr/>
        </p:nvSpPr>
        <p:spPr>
          <a:xfrm>
            <a:off x="6053328" y="3886200"/>
            <a:ext cx="2633472" cy="804672"/>
          </a:xfrm>
          <a:prstGeom prst="rect">
            <a:avLst/>
          </a:prstGeom>
          <a:noFill/>
          <a:ln/>
        </p:spPr>
        <p:txBody>
          <a:bodyPr wrap="square" lIns="0" tIns="0" rIns="0" bIns="0"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104K+</a:t>
            </a:r>
            <a:endParaRPr lang="en-US" sz="4000" dirty="0"/>
          </a:p>
        </p:txBody>
      </p:sp>
      <p:sp>
        <p:nvSpPr>
          <p:cNvPr id="21" name="Text 19"/>
          <p:cNvSpPr/>
          <p:nvPr/>
        </p:nvSpPr>
        <p:spPr>
          <a:xfrm>
            <a:off x="384048" y="4956048"/>
            <a:ext cx="4572000" cy="164592"/>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ads.sovseas.xyz</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0EC"/>
        </a:solidFill>
      </p:bgPr>
    </p:bg>
    <p:spTree>
      <p:nvGrpSpPr>
        <p:cNvPr id="1" name=""/>
        <p:cNvGrpSpPr/>
        <p:nvPr/>
      </p:nvGrpSpPr>
      <p:grpSpPr>
        <a:xfrm>
          <a:off x="0" y="0"/>
          <a:ext cx="0" cy="0"/>
          <a:chOff x="0" y="0"/>
          <a:chExt cx="0" cy="0"/>
        </a:xfrm>
      </p:grpSpPr>
      <p:sp>
        <p:nvSpPr>
          <p:cNvPr id="2" name="Text 0"/>
          <p:cNvSpPr/>
          <p:nvPr/>
        </p:nvSpPr>
        <p:spPr>
          <a:xfrm>
            <a:off x="365760" y="182880"/>
            <a:ext cx="8412480" cy="201168"/>
          </a:xfrm>
          <a:prstGeom prst="rect">
            <a:avLst/>
          </a:prstGeom>
          <a:noFill/>
          <a:ln/>
        </p:spPr>
        <p:txBody>
          <a:bodyPr wrap="square" lIns="0" tIns="0" rIns="0" bIns="0" rtlCol="0" anchor="ctr"/>
          <a:lstStyle/>
          <a:p>
            <a:pPr algn="l" indent="0" marL="0">
              <a:buNone/>
            </a:pPr>
            <a:r>
              <a:rPr lang="en-US" sz="750" b="1" spc="200" kern="0" dirty="0">
                <a:solidFill>
                  <a:srgbClr val="888888"/>
                </a:solidFill>
                <a:latin typeface="Courier New" pitchFamily="34" charset="0"/>
                <a:ea typeface="Courier New" pitchFamily="34" charset="-122"/>
                <a:cs typeface="Courier New" pitchFamily="34" charset="-120"/>
              </a:rPr>
              <a:t>SEASON 3  ·  MILESTONE SCORECARD</a:t>
            </a:r>
            <a:endParaRPr lang="en-US" sz="750" dirty="0"/>
          </a:p>
        </p:txBody>
      </p:sp>
      <p:sp>
        <p:nvSpPr>
          <p:cNvPr id="3" name="Text 1"/>
          <p:cNvSpPr/>
          <p:nvPr/>
        </p:nvSpPr>
        <p:spPr>
          <a:xfrm>
            <a:off x="365760" y="438912"/>
            <a:ext cx="8412480" cy="685800"/>
          </a:xfrm>
          <a:prstGeom prst="rect">
            <a:avLst/>
          </a:prstGeom>
          <a:noFill/>
          <a:ln/>
        </p:spPr>
        <p:txBody>
          <a:bodyPr wrap="square" lIns="0" tIns="0" rIns="0" bIns="0" rtlCol="0" anchor="ctr"/>
          <a:lstStyle/>
          <a:p>
            <a:pPr algn="l" indent="0" marL="0">
              <a:buNone/>
            </a:pPr>
            <a:r>
              <a:rPr lang="en-US" sz="3400" b="1" dirty="0">
                <a:solidFill>
                  <a:srgbClr val="0D0D0D"/>
                </a:solidFill>
                <a:latin typeface="Arial Black" pitchFamily="34" charset="0"/>
                <a:ea typeface="Arial Black" pitchFamily="34" charset="-122"/>
                <a:cs typeface="Arial Black" pitchFamily="34" charset="-120"/>
              </a:rPr>
              <a:t>PROGRESS ACROSS ALL MILESTONES</a:t>
            </a:r>
            <a:endParaRPr lang="en-US" sz="3400" dirty="0"/>
          </a:p>
        </p:txBody>
      </p:sp>
      <p:sp>
        <p:nvSpPr>
          <p:cNvPr id="4" name="Text 2"/>
          <p:cNvSpPr/>
          <p:nvPr/>
        </p:nvSpPr>
        <p:spPr>
          <a:xfrm>
            <a:off x="365760" y="1170432"/>
            <a:ext cx="8412480" cy="237744"/>
          </a:xfrm>
          <a:prstGeom prst="rect">
            <a:avLst/>
          </a:prstGeom>
          <a:noFill/>
          <a:ln/>
        </p:spPr>
        <p:txBody>
          <a:bodyPr wrap="square" lIns="0" tIns="0" rIns="0" bIns="0" rtlCol="0" anchor="ctr"/>
          <a:lstStyle/>
          <a:p>
            <a:pPr algn="l" indent="0" marL="0">
              <a:buNone/>
            </a:pPr>
            <a:r>
              <a:rPr lang="en-US" sz="1000" dirty="0">
                <a:solidFill>
                  <a:srgbClr val="888888"/>
                </a:solidFill>
                <a:latin typeface="Courier New" pitchFamily="34" charset="0"/>
                <a:ea typeface="Courier New" pitchFamily="34" charset="-122"/>
                <a:cs typeface="Courier New" pitchFamily="34" charset="-120"/>
              </a:rPr>
              <a:t>6 milestones tracked · Build + Growth · Deliverables and activations</a:t>
            </a:r>
            <a:endParaRPr lang="en-US" sz="1000" dirty="0"/>
          </a:p>
        </p:txBody>
      </p:sp>
      <p:sp>
        <p:nvSpPr>
          <p:cNvPr id="5" name="Shape 3"/>
          <p:cNvSpPr/>
          <p:nvPr/>
        </p:nvSpPr>
        <p:spPr>
          <a:xfrm>
            <a:off x="365760" y="1481328"/>
            <a:ext cx="4069080" cy="292608"/>
          </a:xfrm>
          <a:prstGeom prst="rect">
            <a:avLst/>
          </a:prstGeom>
          <a:solidFill>
            <a:srgbClr val="0D0D0D"/>
          </a:solidFill>
          <a:ln w="12700">
            <a:solidFill>
              <a:srgbClr val="0D0D0D"/>
            </a:solidFill>
            <a:prstDash val="solid"/>
          </a:ln>
        </p:spPr>
      </p:sp>
      <p:sp>
        <p:nvSpPr>
          <p:cNvPr id="6" name="Text 4"/>
          <p:cNvSpPr/>
          <p:nvPr/>
        </p:nvSpPr>
        <p:spPr>
          <a:xfrm>
            <a:off x="365760" y="1481328"/>
            <a:ext cx="4069080" cy="292608"/>
          </a:xfrm>
          <a:prstGeom prst="rect">
            <a:avLst/>
          </a:prstGeom>
          <a:noFill/>
          <a:ln/>
        </p:spPr>
        <p:txBody>
          <a:bodyPr wrap="square" lIns="0" tIns="0" rIns="0" bIns="0" rtlCol="0" anchor="ctr"/>
          <a:lstStyle/>
          <a:p>
            <a:pPr algn="ctr" indent="0" marL="0">
              <a:buNone/>
            </a:pPr>
            <a:r>
              <a:rPr lang="en-US" sz="900" b="1" spc="200" kern="0" dirty="0">
                <a:solidFill>
                  <a:srgbClr val="FFC400"/>
                </a:solidFill>
                <a:latin typeface="Courier New" pitchFamily="34" charset="0"/>
                <a:ea typeface="Courier New" pitchFamily="34" charset="-122"/>
                <a:cs typeface="Courier New" pitchFamily="34" charset="-120"/>
              </a:rPr>
              <a:t>BUILD MILESTONES</a:t>
            </a:r>
            <a:endParaRPr lang="en-US" sz="900" dirty="0"/>
          </a:p>
        </p:txBody>
      </p:sp>
      <p:sp>
        <p:nvSpPr>
          <p:cNvPr id="7" name="Shape 5"/>
          <p:cNvSpPr/>
          <p:nvPr/>
        </p:nvSpPr>
        <p:spPr>
          <a:xfrm>
            <a:off x="365760" y="1865376"/>
            <a:ext cx="4069080" cy="84124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8" name="Text 6"/>
          <p:cNvSpPr/>
          <p:nvPr/>
        </p:nvSpPr>
        <p:spPr>
          <a:xfrm>
            <a:off x="502920" y="1956816"/>
            <a:ext cx="3474720" cy="256032"/>
          </a:xfrm>
          <a:prstGeom prst="rect">
            <a:avLst/>
          </a:prstGeom>
          <a:noFill/>
          <a:ln/>
        </p:spPr>
        <p:txBody>
          <a:bodyPr wrap="square" lIns="0" tIns="0" rIns="0" bIns="0" rtlCol="0" anchor="ctr"/>
          <a:lstStyle/>
          <a:p>
            <a:pPr indent="0" marL="0">
              <a:buNone/>
            </a:pPr>
            <a:r>
              <a:rPr lang="en-US" sz="900" b="1" dirty="0">
                <a:solidFill>
                  <a:srgbClr val="0D0D0D"/>
                </a:solidFill>
                <a:latin typeface="Arial Black" pitchFamily="34" charset="0"/>
                <a:ea typeface="Arial Black" pitchFamily="34" charset="-122"/>
                <a:cs typeface="Arial Black" pitchFamily="34" charset="-120"/>
              </a:rPr>
              <a:t>BUILD M1 · Engagement Rewards Integration</a:t>
            </a:r>
            <a:endParaRPr lang="en-US" sz="900" dirty="0"/>
          </a:p>
        </p:txBody>
      </p:sp>
      <p:sp>
        <p:nvSpPr>
          <p:cNvPr id="9" name="Shape 7"/>
          <p:cNvSpPr/>
          <p:nvPr/>
        </p:nvSpPr>
        <p:spPr>
          <a:xfrm>
            <a:off x="502920" y="2258568"/>
            <a:ext cx="2834640" cy="164592"/>
          </a:xfrm>
          <a:prstGeom prst="rect">
            <a:avLst/>
          </a:prstGeom>
          <a:solidFill>
            <a:srgbClr val="DDDDDD"/>
          </a:solidFill>
          <a:ln w="12700">
            <a:solidFill>
              <a:srgbClr val="0D0D0D"/>
            </a:solidFill>
            <a:prstDash val="solid"/>
          </a:ln>
        </p:spPr>
      </p:sp>
      <p:sp>
        <p:nvSpPr>
          <p:cNvPr id="10" name="Shape 8"/>
          <p:cNvSpPr/>
          <p:nvPr/>
        </p:nvSpPr>
        <p:spPr>
          <a:xfrm>
            <a:off x="502920" y="2258568"/>
            <a:ext cx="2834640" cy="164592"/>
          </a:xfrm>
          <a:prstGeom prst="rect">
            <a:avLst/>
          </a:prstGeom>
          <a:solidFill>
            <a:srgbClr val="00A550"/>
          </a:solidFill>
          <a:ln w="12700">
            <a:solidFill>
              <a:srgbClr val="00A550"/>
            </a:solidFill>
            <a:prstDash val="solid"/>
          </a:ln>
        </p:spPr>
      </p:sp>
      <p:sp>
        <p:nvSpPr>
          <p:cNvPr id="11" name="Text 9"/>
          <p:cNvSpPr/>
          <p:nvPr/>
        </p:nvSpPr>
        <p:spPr>
          <a:xfrm>
            <a:off x="3401568" y="2212848"/>
            <a:ext cx="594360" cy="256032"/>
          </a:xfrm>
          <a:prstGeom prst="rect">
            <a:avLst/>
          </a:prstGeom>
          <a:noFill/>
          <a:ln/>
        </p:spPr>
        <p:txBody>
          <a:bodyPr wrap="square" lIns="0" tIns="0" rIns="0" bIns="0" rtlCol="0" anchor="ctr"/>
          <a:lstStyle/>
          <a:p>
            <a:pPr algn="r" indent="0" marL="0">
              <a:buNone/>
            </a:pPr>
            <a:r>
              <a:rPr lang="en-US" sz="1300" b="1" dirty="0">
                <a:solidFill>
                  <a:srgbClr val="00A550"/>
                </a:solidFill>
                <a:latin typeface="Arial Black" pitchFamily="34" charset="0"/>
                <a:ea typeface="Arial Black" pitchFamily="34" charset="-122"/>
                <a:cs typeface="Arial Black" pitchFamily="34" charset="-120"/>
              </a:rPr>
              <a:t>100%</a:t>
            </a:r>
            <a:endParaRPr lang="en-US" sz="1300" dirty="0"/>
          </a:p>
        </p:txBody>
      </p:sp>
      <p:sp>
        <p:nvSpPr>
          <p:cNvPr id="12" name="Text 10"/>
          <p:cNvSpPr/>
          <p:nvPr/>
        </p:nvSpPr>
        <p:spPr>
          <a:xfrm>
            <a:off x="502920" y="2459736"/>
            <a:ext cx="3749040" cy="201168"/>
          </a:xfrm>
          <a:prstGeom prst="rect">
            <a:avLst/>
          </a:prstGeom>
          <a:noFill/>
          <a:ln/>
        </p:spPr>
        <p:txBody>
          <a:bodyPr wrap="square" lIns="0" tIns="0" rIns="0" bIns="0" rtlCol="0" anchor="ctr"/>
          <a:lstStyle/>
          <a:p>
            <a:pPr indent="0" marL="0">
              <a:buNone/>
            </a:pPr>
            <a:r>
              <a:rPr lang="en-US" sz="750" dirty="0">
                <a:solidFill>
                  <a:srgbClr val="888888"/>
                </a:solidFill>
                <a:latin typeface="Courier New" pitchFamily="34" charset="0"/>
                <a:ea typeface="Courier New" pitchFamily="34" charset="-122"/>
                <a:cs typeface="Courier New" pitchFamily="34" charset="-120"/>
              </a:rPr>
              <a:t>All 3 deliverables 100%</a:t>
            </a:r>
            <a:endParaRPr lang="en-US" sz="750" dirty="0"/>
          </a:p>
        </p:txBody>
      </p:sp>
      <p:sp>
        <p:nvSpPr>
          <p:cNvPr id="13" name="Shape 11"/>
          <p:cNvSpPr/>
          <p:nvPr/>
        </p:nvSpPr>
        <p:spPr>
          <a:xfrm>
            <a:off x="365760" y="2816352"/>
            <a:ext cx="4069080" cy="84124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14" name="Text 12"/>
          <p:cNvSpPr/>
          <p:nvPr/>
        </p:nvSpPr>
        <p:spPr>
          <a:xfrm>
            <a:off x="502920" y="2907792"/>
            <a:ext cx="3474720" cy="256032"/>
          </a:xfrm>
          <a:prstGeom prst="rect">
            <a:avLst/>
          </a:prstGeom>
          <a:noFill/>
          <a:ln/>
        </p:spPr>
        <p:txBody>
          <a:bodyPr wrap="square" lIns="0" tIns="0" rIns="0" bIns="0" rtlCol="0" anchor="ctr"/>
          <a:lstStyle/>
          <a:p>
            <a:pPr indent="0" marL="0">
              <a:buNone/>
            </a:pPr>
            <a:r>
              <a:rPr lang="en-US" sz="900" b="1" dirty="0">
                <a:solidFill>
                  <a:srgbClr val="0D0D0D"/>
                </a:solidFill>
                <a:latin typeface="Arial Black" pitchFamily="34" charset="0"/>
                <a:ea typeface="Arial Black" pitchFamily="34" charset="-122"/>
                <a:cs typeface="Arial Black" pitchFamily="34" charset="-120"/>
              </a:rPr>
              <a:t>BUILD M2 · Campaign Activation &amp; UX</a:t>
            </a:r>
            <a:endParaRPr lang="en-US" sz="900" dirty="0"/>
          </a:p>
        </p:txBody>
      </p:sp>
      <p:sp>
        <p:nvSpPr>
          <p:cNvPr id="15" name="Shape 13"/>
          <p:cNvSpPr/>
          <p:nvPr/>
        </p:nvSpPr>
        <p:spPr>
          <a:xfrm>
            <a:off x="502920" y="3209544"/>
            <a:ext cx="2834640" cy="164592"/>
          </a:xfrm>
          <a:prstGeom prst="rect">
            <a:avLst/>
          </a:prstGeom>
          <a:solidFill>
            <a:srgbClr val="DDDDDD"/>
          </a:solidFill>
          <a:ln w="12700">
            <a:solidFill>
              <a:srgbClr val="0D0D0D"/>
            </a:solidFill>
            <a:prstDash val="solid"/>
          </a:ln>
        </p:spPr>
      </p:sp>
      <p:sp>
        <p:nvSpPr>
          <p:cNvPr id="16" name="Shape 14"/>
          <p:cNvSpPr/>
          <p:nvPr/>
        </p:nvSpPr>
        <p:spPr>
          <a:xfrm>
            <a:off x="502920" y="3209544"/>
            <a:ext cx="2834640" cy="164592"/>
          </a:xfrm>
          <a:prstGeom prst="rect">
            <a:avLst/>
          </a:prstGeom>
          <a:solidFill>
            <a:srgbClr val="00A550"/>
          </a:solidFill>
          <a:ln w="12700">
            <a:solidFill>
              <a:srgbClr val="00A550"/>
            </a:solidFill>
            <a:prstDash val="solid"/>
          </a:ln>
        </p:spPr>
      </p:sp>
      <p:sp>
        <p:nvSpPr>
          <p:cNvPr id="17" name="Text 15"/>
          <p:cNvSpPr/>
          <p:nvPr/>
        </p:nvSpPr>
        <p:spPr>
          <a:xfrm>
            <a:off x="3401568" y="3163824"/>
            <a:ext cx="594360" cy="256032"/>
          </a:xfrm>
          <a:prstGeom prst="rect">
            <a:avLst/>
          </a:prstGeom>
          <a:noFill/>
          <a:ln/>
        </p:spPr>
        <p:txBody>
          <a:bodyPr wrap="square" lIns="0" tIns="0" rIns="0" bIns="0" rtlCol="0" anchor="ctr"/>
          <a:lstStyle/>
          <a:p>
            <a:pPr algn="r" indent="0" marL="0">
              <a:buNone/>
            </a:pPr>
            <a:r>
              <a:rPr lang="en-US" sz="1300" b="1" dirty="0">
                <a:solidFill>
                  <a:srgbClr val="00A550"/>
                </a:solidFill>
                <a:latin typeface="Arial Black" pitchFamily="34" charset="0"/>
                <a:ea typeface="Arial Black" pitchFamily="34" charset="-122"/>
                <a:cs typeface="Arial Black" pitchFamily="34" charset="-120"/>
              </a:rPr>
              <a:t>100%</a:t>
            </a:r>
            <a:endParaRPr lang="en-US" sz="1300" dirty="0"/>
          </a:p>
        </p:txBody>
      </p:sp>
      <p:sp>
        <p:nvSpPr>
          <p:cNvPr id="18" name="Text 16"/>
          <p:cNvSpPr/>
          <p:nvPr/>
        </p:nvSpPr>
        <p:spPr>
          <a:xfrm>
            <a:off x="502920" y="3410712"/>
            <a:ext cx="3749040" cy="201168"/>
          </a:xfrm>
          <a:prstGeom prst="rect">
            <a:avLst/>
          </a:prstGeom>
          <a:noFill/>
          <a:ln/>
        </p:spPr>
        <p:txBody>
          <a:bodyPr wrap="square" lIns="0" tIns="0" rIns="0" bIns="0" rtlCol="0" anchor="ctr"/>
          <a:lstStyle/>
          <a:p>
            <a:pPr indent="0" marL="0">
              <a:buNone/>
            </a:pPr>
            <a:r>
              <a:rPr lang="en-US" sz="750" dirty="0">
                <a:solidFill>
                  <a:srgbClr val="888888"/>
                </a:solidFill>
                <a:latin typeface="Courier New" pitchFamily="34" charset="0"/>
                <a:ea typeface="Courier New" pitchFamily="34" charset="-122"/>
                <a:cs typeface="Courier New" pitchFamily="34" charset="-120"/>
              </a:rPr>
              <a:t>All 3 deliverables 100%</a:t>
            </a:r>
            <a:endParaRPr lang="en-US" sz="750" dirty="0"/>
          </a:p>
        </p:txBody>
      </p:sp>
      <p:sp>
        <p:nvSpPr>
          <p:cNvPr id="19" name="Shape 17"/>
          <p:cNvSpPr/>
          <p:nvPr/>
        </p:nvSpPr>
        <p:spPr>
          <a:xfrm>
            <a:off x="365760" y="3767328"/>
            <a:ext cx="4069080" cy="84124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20" name="Text 18"/>
          <p:cNvSpPr/>
          <p:nvPr/>
        </p:nvSpPr>
        <p:spPr>
          <a:xfrm>
            <a:off x="502920" y="3858768"/>
            <a:ext cx="3474720" cy="256032"/>
          </a:xfrm>
          <a:prstGeom prst="rect">
            <a:avLst/>
          </a:prstGeom>
          <a:noFill/>
          <a:ln/>
        </p:spPr>
        <p:txBody>
          <a:bodyPr wrap="square" lIns="0" tIns="0" rIns="0" bIns="0" rtlCol="0" anchor="ctr"/>
          <a:lstStyle/>
          <a:p>
            <a:pPr indent="0" marL="0">
              <a:buNone/>
            </a:pPr>
            <a:r>
              <a:rPr lang="en-US" sz="900" b="1" dirty="0">
                <a:solidFill>
                  <a:srgbClr val="0D0D0D"/>
                </a:solidFill>
                <a:latin typeface="Arial Black" pitchFamily="34" charset="0"/>
                <a:ea typeface="Arial Black" pitchFamily="34" charset="-122"/>
                <a:cs typeface="Arial Black" pitchFamily="34" charset="-120"/>
              </a:rPr>
              <a:t>BUILD M3 · Optimization &amp; Scaling</a:t>
            </a:r>
            <a:endParaRPr lang="en-US" sz="900" dirty="0"/>
          </a:p>
        </p:txBody>
      </p:sp>
      <p:sp>
        <p:nvSpPr>
          <p:cNvPr id="21" name="Shape 19"/>
          <p:cNvSpPr/>
          <p:nvPr/>
        </p:nvSpPr>
        <p:spPr>
          <a:xfrm>
            <a:off x="502920" y="4160520"/>
            <a:ext cx="2834640" cy="164592"/>
          </a:xfrm>
          <a:prstGeom prst="rect">
            <a:avLst/>
          </a:prstGeom>
          <a:solidFill>
            <a:srgbClr val="DDDDDD"/>
          </a:solidFill>
          <a:ln w="12700">
            <a:solidFill>
              <a:srgbClr val="0D0D0D"/>
            </a:solidFill>
            <a:prstDash val="solid"/>
          </a:ln>
        </p:spPr>
      </p:sp>
      <p:sp>
        <p:nvSpPr>
          <p:cNvPr id="22" name="Shape 20"/>
          <p:cNvSpPr/>
          <p:nvPr/>
        </p:nvSpPr>
        <p:spPr>
          <a:xfrm>
            <a:off x="502920" y="4160520"/>
            <a:ext cx="2636215" cy="164592"/>
          </a:xfrm>
          <a:prstGeom prst="rect">
            <a:avLst/>
          </a:prstGeom>
          <a:solidFill>
            <a:srgbClr val="00A550"/>
          </a:solidFill>
          <a:ln w="12700">
            <a:solidFill>
              <a:srgbClr val="00A550"/>
            </a:solidFill>
            <a:prstDash val="solid"/>
          </a:ln>
        </p:spPr>
      </p:sp>
      <p:sp>
        <p:nvSpPr>
          <p:cNvPr id="23" name="Text 21"/>
          <p:cNvSpPr/>
          <p:nvPr/>
        </p:nvSpPr>
        <p:spPr>
          <a:xfrm>
            <a:off x="3401568" y="4114800"/>
            <a:ext cx="594360" cy="256032"/>
          </a:xfrm>
          <a:prstGeom prst="rect">
            <a:avLst/>
          </a:prstGeom>
          <a:noFill/>
          <a:ln/>
        </p:spPr>
        <p:txBody>
          <a:bodyPr wrap="square" lIns="0" tIns="0" rIns="0" bIns="0" rtlCol="0" anchor="ctr"/>
          <a:lstStyle/>
          <a:p>
            <a:pPr algn="r" indent="0" marL="0">
              <a:buNone/>
            </a:pPr>
            <a:r>
              <a:rPr lang="en-US" sz="1300" b="1" dirty="0">
                <a:solidFill>
                  <a:srgbClr val="00A550"/>
                </a:solidFill>
                <a:latin typeface="Arial Black" pitchFamily="34" charset="0"/>
                <a:ea typeface="Arial Black" pitchFamily="34" charset="-122"/>
                <a:cs typeface="Arial Black" pitchFamily="34" charset="-120"/>
              </a:rPr>
              <a:t>93%</a:t>
            </a:r>
            <a:endParaRPr lang="en-US" sz="1300" dirty="0"/>
          </a:p>
        </p:txBody>
      </p:sp>
      <p:sp>
        <p:nvSpPr>
          <p:cNvPr id="24" name="Text 22"/>
          <p:cNvSpPr/>
          <p:nvPr/>
        </p:nvSpPr>
        <p:spPr>
          <a:xfrm>
            <a:off x="502920" y="4361688"/>
            <a:ext cx="3749040" cy="201168"/>
          </a:xfrm>
          <a:prstGeom prst="rect">
            <a:avLst/>
          </a:prstGeom>
          <a:noFill/>
          <a:ln/>
        </p:spPr>
        <p:txBody>
          <a:bodyPr wrap="square" lIns="0" tIns="0" rIns="0" bIns="0" rtlCol="0" anchor="ctr"/>
          <a:lstStyle/>
          <a:p>
            <a:pPr indent="0" marL="0">
              <a:buNone/>
            </a:pPr>
            <a:r>
              <a:rPr lang="en-US" sz="750" dirty="0">
                <a:solidFill>
                  <a:srgbClr val="888888"/>
                </a:solidFill>
                <a:latin typeface="Courier New" pitchFamily="34" charset="0"/>
                <a:ea typeface="Courier New" pitchFamily="34" charset="-122"/>
                <a:cs typeface="Courier New" pitchFamily="34" charset="-120"/>
              </a:rPr>
              <a:t>D1: 100%  D2: 100%  D3: 80%  D4: 90%</a:t>
            </a:r>
            <a:endParaRPr lang="en-US" sz="750" dirty="0"/>
          </a:p>
        </p:txBody>
      </p:sp>
      <p:sp>
        <p:nvSpPr>
          <p:cNvPr id="25" name="Shape 23"/>
          <p:cNvSpPr/>
          <p:nvPr/>
        </p:nvSpPr>
        <p:spPr>
          <a:xfrm>
            <a:off x="4709160" y="1481328"/>
            <a:ext cx="4069080" cy="292608"/>
          </a:xfrm>
          <a:prstGeom prst="rect">
            <a:avLst/>
          </a:prstGeom>
          <a:solidFill>
            <a:srgbClr val="0D0D0D"/>
          </a:solidFill>
          <a:ln w="12700">
            <a:solidFill>
              <a:srgbClr val="0D0D0D"/>
            </a:solidFill>
            <a:prstDash val="solid"/>
          </a:ln>
        </p:spPr>
      </p:sp>
      <p:sp>
        <p:nvSpPr>
          <p:cNvPr id="26" name="Text 24"/>
          <p:cNvSpPr/>
          <p:nvPr/>
        </p:nvSpPr>
        <p:spPr>
          <a:xfrm>
            <a:off x="4709160" y="1481328"/>
            <a:ext cx="4069080" cy="292608"/>
          </a:xfrm>
          <a:prstGeom prst="rect">
            <a:avLst/>
          </a:prstGeom>
          <a:noFill/>
          <a:ln/>
        </p:spPr>
        <p:txBody>
          <a:bodyPr wrap="square" lIns="0" tIns="0" rIns="0" bIns="0" rtlCol="0" anchor="ctr"/>
          <a:lstStyle/>
          <a:p>
            <a:pPr algn="ctr" indent="0" marL="0">
              <a:buNone/>
            </a:pPr>
            <a:r>
              <a:rPr lang="en-US" sz="900" b="1" spc="200" kern="0" dirty="0">
                <a:solidFill>
                  <a:srgbClr val="00B8C4"/>
                </a:solidFill>
                <a:latin typeface="Courier New" pitchFamily="34" charset="0"/>
                <a:ea typeface="Courier New" pitchFamily="34" charset="-122"/>
                <a:cs typeface="Courier New" pitchFamily="34" charset="-120"/>
              </a:rPr>
              <a:t>GROWTH MILESTONES</a:t>
            </a:r>
            <a:endParaRPr lang="en-US" sz="900" dirty="0"/>
          </a:p>
        </p:txBody>
      </p:sp>
      <p:sp>
        <p:nvSpPr>
          <p:cNvPr id="27" name="Shape 25"/>
          <p:cNvSpPr/>
          <p:nvPr/>
        </p:nvSpPr>
        <p:spPr>
          <a:xfrm>
            <a:off x="4709160" y="1865376"/>
            <a:ext cx="4069080" cy="84124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28" name="Text 26"/>
          <p:cNvSpPr/>
          <p:nvPr/>
        </p:nvSpPr>
        <p:spPr>
          <a:xfrm>
            <a:off x="4846320" y="1956816"/>
            <a:ext cx="3474720" cy="256032"/>
          </a:xfrm>
          <a:prstGeom prst="rect">
            <a:avLst/>
          </a:prstGeom>
          <a:noFill/>
          <a:ln/>
        </p:spPr>
        <p:txBody>
          <a:bodyPr wrap="square" lIns="0" tIns="0" rIns="0" bIns="0" rtlCol="0" anchor="ctr"/>
          <a:lstStyle/>
          <a:p>
            <a:pPr indent="0" marL="0">
              <a:buNone/>
            </a:pPr>
            <a:r>
              <a:rPr lang="en-US" sz="900" b="1" dirty="0">
                <a:solidFill>
                  <a:srgbClr val="0D0D0D"/>
                </a:solidFill>
                <a:latin typeface="Arial Black" pitchFamily="34" charset="0"/>
                <a:ea typeface="Arial Black" pitchFamily="34" charset="-122"/>
                <a:cs typeface="Arial Black" pitchFamily="34" charset="-120"/>
              </a:rPr>
              <a:t>GROWTH M1 · Foundation &amp; First Verified Users</a:t>
            </a:r>
            <a:endParaRPr lang="en-US" sz="900" dirty="0"/>
          </a:p>
        </p:txBody>
      </p:sp>
      <p:sp>
        <p:nvSpPr>
          <p:cNvPr id="29" name="Shape 27"/>
          <p:cNvSpPr/>
          <p:nvPr/>
        </p:nvSpPr>
        <p:spPr>
          <a:xfrm>
            <a:off x="4846320" y="2258568"/>
            <a:ext cx="2834640" cy="164592"/>
          </a:xfrm>
          <a:prstGeom prst="rect">
            <a:avLst/>
          </a:prstGeom>
          <a:solidFill>
            <a:srgbClr val="DDDDDD"/>
          </a:solidFill>
          <a:ln w="12700">
            <a:solidFill>
              <a:srgbClr val="0D0D0D"/>
            </a:solidFill>
            <a:prstDash val="solid"/>
          </a:ln>
        </p:spPr>
      </p:sp>
      <p:sp>
        <p:nvSpPr>
          <p:cNvPr id="30" name="Shape 28"/>
          <p:cNvSpPr/>
          <p:nvPr/>
        </p:nvSpPr>
        <p:spPr>
          <a:xfrm>
            <a:off x="4846320" y="2258568"/>
            <a:ext cx="2267712" cy="164592"/>
          </a:xfrm>
          <a:prstGeom prst="rect">
            <a:avLst/>
          </a:prstGeom>
          <a:solidFill>
            <a:srgbClr val="00A550"/>
          </a:solidFill>
          <a:ln w="12700">
            <a:solidFill>
              <a:srgbClr val="00A550"/>
            </a:solidFill>
            <a:prstDash val="solid"/>
          </a:ln>
        </p:spPr>
      </p:sp>
      <p:sp>
        <p:nvSpPr>
          <p:cNvPr id="31" name="Text 29"/>
          <p:cNvSpPr/>
          <p:nvPr/>
        </p:nvSpPr>
        <p:spPr>
          <a:xfrm>
            <a:off x="7726680" y="2212848"/>
            <a:ext cx="594360" cy="256032"/>
          </a:xfrm>
          <a:prstGeom prst="rect">
            <a:avLst/>
          </a:prstGeom>
          <a:noFill/>
          <a:ln/>
        </p:spPr>
        <p:txBody>
          <a:bodyPr wrap="square" lIns="0" tIns="0" rIns="0" bIns="0" rtlCol="0" anchor="ctr"/>
          <a:lstStyle/>
          <a:p>
            <a:pPr algn="r" indent="0" marL="0">
              <a:buNone/>
            </a:pPr>
            <a:r>
              <a:rPr lang="en-US" sz="1300" b="1" dirty="0">
                <a:solidFill>
                  <a:srgbClr val="00A550"/>
                </a:solidFill>
                <a:latin typeface="Arial Black" pitchFamily="34" charset="0"/>
                <a:ea typeface="Arial Black" pitchFamily="34" charset="-122"/>
                <a:cs typeface="Arial Black" pitchFamily="34" charset="-120"/>
              </a:rPr>
              <a:t>80%</a:t>
            </a:r>
            <a:endParaRPr lang="en-US" sz="1300" dirty="0"/>
          </a:p>
        </p:txBody>
      </p:sp>
      <p:sp>
        <p:nvSpPr>
          <p:cNvPr id="32" name="Text 30"/>
          <p:cNvSpPr/>
          <p:nvPr/>
        </p:nvSpPr>
        <p:spPr>
          <a:xfrm>
            <a:off x="4846320" y="2459736"/>
            <a:ext cx="3749040" cy="201168"/>
          </a:xfrm>
          <a:prstGeom prst="rect">
            <a:avLst/>
          </a:prstGeom>
          <a:noFill/>
          <a:ln/>
        </p:spPr>
        <p:txBody>
          <a:bodyPr wrap="square" lIns="0" tIns="0" rIns="0" bIns="0" rtlCol="0" anchor="ctr"/>
          <a:lstStyle/>
          <a:p>
            <a:pPr indent="0" marL="0">
              <a:buNone/>
            </a:pPr>
            <a:r>
              <a:rPr lang="en-US" sz="750" dirty="0">
                <a:solidFill>
                  <a:srgbClr val="888888"/>
                </a:solidFill>
                <a:latin typeface="Courier New" pitchFamily="34" charset="0"/>
                <a:ea typeface="Courier New" pitchFamily="34" charset="-122"/>
                <a:cs typeface="Courier New" pitchFamily="34" charset="-120"/>
              </a:rPr>
              <a:t>A1–A3, A5: ✓  |  A4 (USD flow): 0%</a:t>
            </a:r>
            <a:endParaRPr lang="en-US" sz="750" dirty="0"/>
          </a:p>
        </p:txBody>
      </p:sp>
      <p:sp>
        <p:nvSpPr>
          <p:cNvPr id="33" name="Shape 31"/>
          <p:cNvSpPr/>
          <p:nvPr/>
        </p:nvSpPr>
        <p:spPr>
          <a:xfrm>
            <a:off x="4709160" y="2816352"/>
            <a:ext cx="4069080" cy="84124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34" name="Text 32"/>
          <p:cNvSpPr/>
          <p:nvPr/>
        </p:nvSpPr>
        <p:spPr>
          <a:xfrm>
            <a:off x="4846320" y="2907792"/>
            <a:ext cx="3474720" cy="256032"/>
          </a:xfrm>
          <a:prstGeom prst="rect">
            <a:avLst/>
          </a:prstGeom>
          <a:noFill/>
          <a:ln/>
        </p:spPr>
        <p:txBody>
          <a:bodyPr wrap="square" lIns="0" tIns="0" rIns="0" bIns="0" rtlCol="0" anchor="ctr"/>
          <a:lstStyle/>
          <a:p>
            <a:pPr indent="0" marL="0">
              <a:buNone/>
            </a:pPr>
            <a:r>
              <a:rPr lang="en-US" sz="900" b="1" dirty="0">
                <a:solidFill>
                  <a:srgbClr val="0D0D0D"/>
                </a:solidFill>
                <a:latin typeface="Arial Black" pitchFamily="34" charset="0"/>
                <a:ea typeface="Arial Black" pitchFamily="34" charset="-122"/>
                <a:cs typeface="Arial Black" pitchFamily="34" charset="-120"/>
              </a:rPr>
              <a:t>GROWTH M2 · Campaign Activation &amp; Repeat Usage</a:t>
            </a:r>
            <a:endParaRPr lang="en-US" sz="900" dirty="0"/>
          </a:p>
        </p:txBody>
      </p:sp>
      <p:sp>
        <p:nvSpPr>
          <p:cNvPr id="35" name="Shape 33"/>
          <p:cNvSpPr/>
          <p:nvPr/>
        </p:nvSpPr>
        <p:spPr>
          <a:xfrm>
            <a:off x="4846320" y="3209544"/>
            <a:ext cx="2834640" cy="164592"/>
          </a:xfrm>
          <a:prstGeom prst="rect">
            <a:avLst/>
          </a:prstGeom>
          <a:solidFill>
            <a:srgbClr val="DDDDDD"/>
          </a:solidFill>
          <a:ln w="12700">
            <a:solidFill>
              <a:srgbClr val="0D0D0D"/>
            </a:solidFill>
            <a:prstDash val="solid"/>
          </a:ln>
        </p:spPr>
      </p:sp>
      <p:sp>
        <p:nvSpPr>
          <p:cNvPr id="36" name="Shape 34"/>
          <p:cNvSpPr/>
          <p:nvPr/>
        </p:nvSpPr>
        <p:spPr>
          <a:xfrm>
            <a:off x="4846320" y="3209544"/>
            <a:ext cx="1559052" cy="164592"/>
          </a:xfrm>
          <a:prstGeom prst="rect">
            <a:avLst/>
          </a:prstGeom>
          <a:solidFill>
            <a:srgbClr val="FFC400"/>
          </a:solidFill>
          <a:ln w="12700">
            <a:solidFill>
              <a:srgbClr val="FFC400"/>
            </a:solidFill>
            <a:prstDash val="solid"/>
          </a:ln>
        </p:spPr>
      </p:sp>
      <p:sp>
        <p:nvSpPr>
          <p:cNvPr id="37" name="Text 35"/>
          <p:cNvSpPr/>
          <p:nvPr/>
        </p:nvSpPr>
        <p:spPr>
          <a:xfrm>
            <a:off x="7726680" y="3163824"/>
            <a:ext cx="594360" cy="256032"/>
          </a:xfrm>
          <a:prstGeom prst="rect">
            <a:avLst/>
          </a:prstGeom>
          <a:noFill/>
          <a:ln/>
        </p:spPr>
        <p:txBody>
          <a:bodyPr wrap="square" lIns="0" tIns="0" rIns="0" bIns="0" rtlCol="0" anchor="ctr"/>
          <a:lstStyle/>
          <a:p>
            <a:pPr algn="r" indent="0" marL="0">
              <a:buNone/>
            </a:pPr>
            <a:r>
              <a:rPr lang="en-US" sz="1300" b="1" dirty="0">
                <a:solidFill>
                  <a:srgbClr val="FFC400"/>
                </a:solidFill>
                <a:latin typeface="Arial Black" pitchFamily="34" charset="0"/>
                <a:ea typeface="Arial Black" pitchFamily="34" charset="-122"/>
                <a:cs typeface="Arial Black" pitchFamily="34" charset="-120"/>
              </a:rPr>
              <a:t>55%</a:t>
            </a:r>
            <a:endParaRPr lang="en-US" sz="1300" dirty="0"/>
          </a:p>
        </p:txBody>
      </p:sp>
      <p:sp>
        <p:nvSpPr>
          <p:cNvPr id="38" name="Text 36"/>
          <p:cNvSpPr/>
          <p:nvPr/>
        </p:nvSpPr>
        <p:spPr>
          <a:xfrm>
            <a:off x="4846320" y="3410712"/>
            <a:ext cx="3749040" cy="201168"/>
          </a:xfrm>
          <a:prstGeom prst="rect">
            <a:avLst/>
          </a:prstGeom>
          <a:noFill/>
          <a:ln/>
        </p:spPr>
        <p:txBody>
          <a:bodyPr wrap="square" lIns="0" tIns="0" rIns="0" bIns="0" rtlCol="0" anchor="ctr"/>
          <a:lstStyle/>
          <a:p>
            <a:pPr indent="0" marL="0">
              <a:buNone/>
            </a:pPr>
            <a:r>
              <a:rPr lang="en-US" sz="750" dirty="0">
                <a:solidFill>
                  <a:srgbClr val="888888"/>
                </a:solidFill>
                <a:latin typeface="Courier New" pitchFamily="34" charset="0"/>
                <a:ea typeface="Courier New" pitchFamily="34" charset="-122"/>
                <a:cs typeface="Courier New" pitchFamily="34" charset="-120"/>
              </a:rPr>
              <a:t>A1, A3, A7: ✓  |  A2 A4 A5 A6: 0%</a:t>
            </a:r>
            <a:endParaRPr lang="en-US" sz="750" dirty="0"/>
          </a:p>
        </p:txBody>
      </p:sp>
      <p:sp>
        <p:nvSpPr>
          <p:cNvPr id="39" name="Shape 37"/>
          <p:cNvSpPr/>
          <p:nvPr/>
        </p:nvSpPr>
        <p:spPr>
          <a:xfrm>
            <a:off x="4709160" y="3767328"/>
            <a:ext cx="4069080" cy="84124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40" name="Text 38"/>
          <p:cNvSpPr/>
          <p:nvPr/>
        </p:nvSpPr>
        <p:spPr>
          <a:xfrm>
            <a:off x="4846320" y="3858768"/>
            <a:ext cx="3474720" cy="256032"/>
          </a:xfrm>
          <a:prstGeom prst="rect">
            <a:avLst/>
          </a:prstGeom>
          <a:noFill/>
          <a:ln/>
        </p:spPr>
        <p:txBody>
          <a:bodyPr wrap="square" lIns="0" tIns="0" rIns="0" bIns="0" rtlCol="0" anchor="ctr"/>
          <a:lstStyle/>
          <a:p>
            <a:pPr indent="0" marL="0">
              <a:buNone/>
            </a:pPr>
            <a:r>
              <a:rPr lang="en-US" sz="900" b="1" dirty="0">
                <a:solidFill>
                  <a:srgbClr val="0D0D0D"/>
                </a:solidFill>
                <a:latin typeface="Arial Black" pitchFamily="34" charset="0"/>
                <a:ea typeface="Arial Black" pitchFamily="34" charset="-122"/>
                <a:cs typeface="Arial Black" pitchFamily="34" charset="-120"/>
              </a:rPr>
              <a:t>GROWTH M3 · Optimization &amp; Sustained Growth</a:t>
            </a:r>
            <a:endParaRPr lang="en-US" sz="900" dirty="0"/>
          </a:p>
        </p:txBody>
      </p:sp>
      <p:sp>
        <p:nvSpPr>
          <p:cNvPr id="41" name="Shape 39"/>
          <p:cNvSpPr/>
          <p:nvPr/>
        </p:nvSpPr>
        <p:spPr>
          <a:xfrm>
            <a:off x="4846320" y="4160520"/>
            <a:ext cx="2834640" cy="164592"/>
          </a:xfrm>
          <a:prstGeom prst="rect">
            <a:avLst/>
          </a:prstGeom>
          <a:solidFill>
            <a:srgbClr val="DDDDDD"/>
          </a:solidFill>
          <a:ln w="12700">
            <a:solidFill>
              <a:srgbClr val="0D0D0D"/>
            </a:solidFill>
            <a:prstDash val="solid"/>
          </a:ln>
        </p:spPr>
      </p:sp>
      <p:sp>
        <p:nvSpPr>
          <p:cNvPr id="42" name="Shape 40"/>
          <p:cNvSpPr/>
          <p:nvPr/>
        </p:nvSpPr>
        <p:spPr>
          <a:xfrm>
            <a:off x="4846320" y="4160520"/>
            <a:ext cx="1190549" cy="164592"/>
          </a:xfrm>
          <a:prstGeom prst="rect">
            <a:avLst/>
          </a:prstGeom>
          <a:solidFill>
            <a:srgbClr val="CC3333"/>
          </a:solidFill>
          <a:ln w="12700">
            <a:solidFill>
              <a:srgbClr val="CC3333"/>
            </a:solidFill>
            <a:prstDash val="solid"/>
          </a:ln>
        </p:spPr>
      </p:sp>
      <p:sp>
        <p:nvSpPr>
          <p:cNvPr id="43" name="Text 41"/>
          <p:cNvSpPr/>
          <p:nvPr/>
        </p:nvSpPr>
        <p:spPr>
          <a:xfrm>
            <a:off x="7726680" y="4114800"/>
            <a:ext cx="594360" cy="256032"/>
          </a:xfrm>
          <a:prstGeom prst="rect">
            <a:avLst/>
          </a:prstGeom>
          <a:noFill/>
          <a:ln/>
        </p:spPr>
        <p:txBody>
          <a:bodyPr wrap="square" lIns="0" tIns="0" rIns="0" bIns="0" rtlCol="0" anchor="ctr"/>
          <a:lstStyle/>
          <a:p>
            <a:pPr algn="r" indent="0" marL="0">
              <a:buNone/>
            </a:pPr>
            <a:r>
              <a:rPr lang="en-US" sz="1300" b="1" dirty="0">
                <a:solidFill>
                  <a:srgbClr val="CC3333"/>
                </a:solidFill>
                <a:latin typeface="Arial Black" pitchFamily="34" charset="0"/>
                <a:ea typeface="Arial Black" pitchFamily="34" charset="-122"/>
                <a:cs typeface="Arial Black" pitchFamily="34" charset="-120"/>
              </a:rPr>
              <a:t>42%</a:t>
            </a:r>
            <a:endParaRPr lang="en-US" sz="1300" dirty="0"/>
          </a:p>
        </p:txBody>
      </p:sp>
      <p:sp>
        <p:nvSpPr>
          <p:cNvPr id="44" name="Text 42"/>
          <p:cNvSpPr/>
          <p:nvPr/>
        </p:nvSpPr>
        <p:spPr>
          <a:xfrm>
            <a:off x="4846320" y="4361688"/>
            <a:ext cx="3749040" cy="201168"/>
          </a:xfrm>
          <a:prstGeom prst="rect">
            <a:avLst/>
          </a:prstGeom>
          <a:noFill/>
          <a:ln/>
        </p:spPr>
        <p:txBody>
          <a:bodyPr wrap="square" lIns="0" tIns="0" rIns="0" bIns="0" rtlCol="0" anchor="ctr"/>
          <a:lstStyle/>
          <a:p>
            <a:pPr indent="0" marL="0">
              <a:buNone/>
            </a:pPr>
            <a:r>
              <a:rPr lang="en-US" sz="750" dirty="0">
                <a:solidFill>
                  <a:srgbClr val="888888"/>
                </a:solidFill>
                <a:latin typeface="Courier New" pitchFamily="34" charset="0"/>
                <a:ea typeface="Courier New" pitchFamily="34" charset="-122"/>
                <a:cs typeface="Courier New" pitchFamily="34" charset="-120"/>
              </a:rPr>
              <a:t>A1: ✓  A2: 60%  A3: 50%  A4–A6: 0%</a:t>
            </a:r>
            <a:endParaRPr lang="en-US" sz="750" dirty="0"/>
          </a:p>
        </p:txBody>
      </p:sp>
      <p:sp>
        <p:nvSpPr>
          <p:cNvPr id="45" name="Shape 43"/>
          <p:cNvSpPr/>
          <p:nvPr/>
        </p:nvSpPr>
        <p:spPr>
          <a:xfrm>
            <a:off x="365760" y="4754880"/>
            <a:ext cx="8412480" cy="41148"/>
          </a:xfrm>
          <a:prstGeom prst="rect">
            <a:avLst/>
          </a:prstGeom>
          <a:solidFill>
            <a:srgbClr val="0D0D0D"/>
          </a:solidFill>
          <a:ln w="12700">
            <a:solidFill>
              <a:srgbClr val="0D0D0D"/>
            </a:solidFill>
            <a:prstDash val="solid"/>
          </a:ln>
        </p:spPr>
      </p:sp>
      <p:sp>
        <p:nvSpPr>
          <p:cNvPr id="46" name="Text 44"/>
          <p:cNvSpPr/>
          <p:nvPr/>
        </p:nvSpPr>
        <p:spPr>
          <a:xfrm>
            <a:off x="365760" y="4800600"/>
            <a:ext cx="3200400" cy="201168"/>
          </a:xfrm>
          <a:prstGeom prst="rect">
            <a:avLst/>
          </a:prstGeom>
          <a:noFill/>
          <a:ln/>
        </p:spPr>
        <p:txBody>
          <a:bodyPr wrap="square" lIns="0" tIns="0" rIns="0" bIns="0" rtlCol="0" anchor="ctr"/>
          <a:lstStyle/>
          <a:p>
            <a:pPr indent="0" marL="0">
              <a:buNone/>
            </a:pPr>
            <a:r>
              <a:rPr lang="en-US" sz="800" b="1" spc="100" kern="0" dirty="0">
                <a:solidFill>
                  <a:srgbClr val="0D0D0D"/>
                </a:solidFill>
                <a:latin typeface="Courier New" pitchFamily="34" charset="0"/>
                <a:ea typeface="Courier New" pitchFamily="34" charset="-122"/>
                <a:cs typeface="Courier New" pitchFamily="34" charset="-120"/>
              </a:rPr>
              <a:t>OVERALL SEASON SCORE</a:t>
            </a:r>
            <a:endParaRPr lang="en-US" sz="800" dirty="0"/>
          </a:p>
        </p:txBody>
      </p:sp>
      <p:sp>
        <p:nvSpPr>
          <p:cNvPr id="47" name="Shape 45"/>
          <p:cNvSpPr/>
          <p:nvPr/>
        </p:nvSpPr>
        <p:spPr>
          <a:xfrm>
            <a:off x="3566160" y="4828032"/>
            <a:ext cx="4114800" cy="164592"/>
          </a:xfrm>
          <a:prstGeom prst="rect">
            <a:avLst/>
          </a:prstGeom>
          <a:solidFill>
            <a:srgbClr val="DDDDDD"/>
          </a:solidFill>
          <a:ln w="12700">
            <a:solidFill>
              <a:srgbClr val="0D0D0D"/>
            </a:solidFill>
            <a:prstDash val="solid"/>
          </a:ln>
        </p:spPr>
      </p:sp>
      <p:sp>
        <p:nvSpPr>
          <p:cNvPr id="48" name="Shape 46"/>
          <p:cNvSpPr/>
          <p:nvPr/>
        </p:nvSpPr>
        <p:spPr>
          <a:xfrm>
            <a:off x="3566160" y="4828032"/>
            <a:ext cx="3209544" cy="164592"/>
          </a:xfrm>
          <a:prstGeom prst="rect">
            <a:avLst/>
          </a:prstGeom>
          <a:solidFill>
            <a:srgbClr val="FFC400"/>
          </a:solidFill>
          <a:ln w="12700">
            <a:solidFill>
              <a:srgbClr val="FFC400"/>
            </a:solidFill>
            <a:prstDash val="solid"/>
          </a:ln>
        </p:spPr>
      </p:sp>
      <p:sp>
        <p:nvSpPr>
          <p:cNvPr id="49" name="Text 47"/>
          <p:cNvSpPr/>
          <p:nvPr/>
        </p:nvSpPr>
        <p:spPr>
          <a:xfrm>
            <a:off x="7726680" y="4773168"/>
            <a:ext cx="822960" cy="256032"/>
          </a:xfrm>
          <a:prstGeom prst="rect">
            <a:avLst/>
          </a:prstGeom>
          <a:noFill/>
          <a:ln/>
        </p:spPr>
        <p:txBody>
          <a:bodyPr wrap="square" lIns="0" tIns="0" rIns="0" bIns="0" rtlCol="0" anchor="ctr"/>
          <a:lstStyle/>
          <a:p>
            <a:pPr algn="r" indent="0" marL="0">
              <a:buNone/>
            </a:pPr>
            <a:r>
              <a:rPr lang="en-US" sz="1400" b="1" dirty="0">
                <a:solidFill>
                  <a:srgbClr val="FFC400"/>
                </a:solidFill>
                <a:latin typeface="Arial Black" pitchFamily="34" charset="0"/>
                <a:ea typeface="Arial Black" pitchFamily="34" charset="-122"/>
                <a:cs typeface="Arial Black" pitchFamily="34" charset="-120"/>
              </a:rPr>
              <a:t>~78%</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0EC"/>
        </a:solidFill>
      </p:bgPr>
    </p:bg>
    <p:spTree>
      <p:nvGrpSpPr>
        <p:cNvPr id="1" name=""/>
        <p:cNvGrpSpPr/>
        <p:nvPr/>
      </p:nvGrpSpPr>
      <p:grpSpPr>
        <a:xfrm>
          <a:off x="0" y="0"/>
          <a:ext cx="0" cy="0"/>
          <a:chOff x="0" y="0"/>
          <a:chExt cx="0" cy="0"/>
        </a:xfrm>
      </p:grpSpPr>
      <p:sp>
        <p:nvSpPr>
          <p:cNvPr id="2" name="Text 0"/>
          <p:cNvSpPr/>
          <p:nvPr/>
        </p:nvSpPr>
        <p:spPr>
          <a:xfrm>
            <a:off x="365760" y="182880"/>
            <a:ext cx="8412480" cy="201168"/>
          </a:xfrm>
          <a:prstGeom prst="rect">
            <a:avLst/>
          </a:prstGeom>
          <a:noFill/>
          <a:ln/>
        </p:spPr>
        <p:txBody>
          <a:bodyPr wrap="square" lIns="0" tIns="0" rIns="0" bIns="0" rtlCol="0" anchor="ctr"/>
          <a:lstStyle/>
          <a:p>
            <a:pPr algn="l" indent="0" marL="0">
              <a:buNone/>
            </a:pPr>
            <a:r>
              <a:rPr lang="en-US" sz="750" b="1" spc="200" kern="0" dirty="0">
                <a:solidFill>
                  <a:srgbClr val="888888"/>
                </a:solidFill>
                <a:latin typeface="Courier New" pitchFamily="34" charset="0"/>
                <a:ea typeface="Courier New" pitchFamily="34" charset="-122"/>
                <a:cs typeface="Courier New" pitchFamily="34" charset="-120"/>
              </a:rPr>
              <a:t>SEASON 3  ·  WHAT WE BUILT</a:t>
            </a:r>
            <a:endParaRPr lang="en-US" sz="750" dirty="0"/>
          </a:p>
        </p:txBody>
      </p:sp>
      <p:sp>
        <p:nvSpPr>
          <p:cNvPr id="3" name="Text 1"/>
          <p:cNvSpPr/>
          <p:nvPr/>
        </p:nvSpPr>
        <p:spPr>
          <a:xfrm>
            <a:off x="365760" y="438912"/>
            <a:ext cx="8412480" cy="685800"/>
          </a:xfrm>
          <a:prstGeom prst="rect">
            <a:avLst/>
          </a:prstGeom>
          <a:noFill/>
          <a:ln/>
        </p:spPr>
        <p:txBody>
          <a:bodyPr wrap="square" lIns="0" tIns="0" rIns="0" bIns="0" rtlCol="0" anchor="ctr"/>
          <a:lstStyle/>
          <a:p>
            <a:pPr algn="l" indent="0" marL="0">
              <a:buNone/>
            </a:pPr>
            <a:r>
              <a:rPr lang="en-US" sz="3400" b="1" dirty="0">
                <a:solidFill>
                  <a:srgbClr val="0D0D0D"/>
                </a:solidFill>
                <a:latin typeface="Arial Black" pitchFamily="34" charset="0"/>
                <a:ea typeface="Arial Black" pitchFamily="34" charset="-122"/>
                <a:cs typeface="Arial Black" pitchFamily="34" charset="-120"/>
              </a:rPr>
              <a:t>WHAT WE DID</a:t>
            </a:r>
            <a:endParaRPr lang="en-US" sz="3400" dirty="0"/>
          </a:p>
        </p:txBody>
      </p:sp>
      <p:sp>
        <p:nvSpPr>
          <p:cNvPr id="4" name="Text 2"/>
          <p:cNvSpPr/>
          <p:nvPr/>
        </p:nvSpPr>
        <p:spPr>
          <a:xfrm>
            <a:off x="365760" y="1170432"/>
            <a:ext cx="8412480" cy="237744"/>
          </a:xfrm>
          <a:prstGeom prst="rect">
            <a:avLst/>
          </a:prstGeom>
          <a:noFill/>
          <a:ln/>
        </p:spPr>
        <p:txBody>
          <a:bodyPr wrap="square" lIns="0" tIns="0" rIns="0" bIns="0" rtlCol="0" anchor="ctr"/>
          <a:lstStyle/>
          <a:p>
            <a:pPr algn="l" indent="0" marL="0">
              <a:buNone/>
            </a:pPr>
            <a:r>
              <a:rPr lang="en-US" sz="1000" dirty="0">
                <a:solidFill>
                  <a:srgbClr val="888888"/>
                </a:solidFill>
                <a:latin typeface="Courier New" pitchFamily="34" charset="0"/>
                <a:ea typeface="Courier New" pitchFamily="34" charset="-122"/>
                <a:cs typeface="Courier New" pitchFamily="34" charset="-120"/>
              </a:rPr>
              <a:t>Everything shipped, proven, and live on-chain this season.</a:t>
            </a:r>
            <a:endParaRPr lang="en-US" sz="1000" dirty="0"/>
          </a:p>
        </p:txBody>
      </p:sp>
      <p:sp>
        <p:nvSpPr>
          <p:cNvPr id="5" name="Shape 3"/>
          <p:cNvSpPr/>
          <p:nvPr/>
        </p:nvSpPr>
        <p:spPr>
          <a:xfrm>
            <a:off x="365760" y="1481328"/>
            <a:ext cx="4242816" cy="822960"/>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6" name="Shape 4"/>
          <p:cNvSpPr/>
          <p:nvPr/>
        </p:nvSpPr>
        <p:spPr>
          <a:xfrm>
            <a:off x="365760" y="1481328"/>
            <a:ext cx="4242816" cy="237744"/>
          </a:xfrm>
          <a:prstGeom prst="rect">
            <a:avLst/>
          </a:prstGeom>
          <a:solidFill>
            <a:srgbClr val="00A550"/>
          </a:solidFill>
          <a:ln w="12700">
            <a:solidFill>
              <a:srgbClr val="0D0D0D"/>
            </a:solidFill>
            <a:prstDash val="solid"/>
          </a:ln>
        </p:spPr>
      </p:sp>
      <p:sp>
        <p:nvSpPr>
          <p:cNvPr id="7" name="Text 5"/>
          <p:cNvSpPr/>
          <p:nvPr/>
        </p:nvSpPr>
        <p:spPr>
          <a:xfrm>
            <a:off x="475488" y="1481328"/>
            <a:ext cx="4023360" cy="237744"/>
          </a:xfrm>
          <a:prstGeom prst="rect">
            <a:avLst/>
          </a:prstGeom>
          <a:noFill/>
          <a:ln/>
        </p:spPr>
        <p:txBody>
          <a:bodyPr wrap="square" lIns="0" tIns="0" rIns="0" bIns="0" rtlCol="0" anchor="ctr"/>
          <a:lstStyle/>
          <a:p>
            <a:pPr indent="0" marL="0">
              <a:buNone/>
            </a:pPr>
            <a:r>
              <a:rPr lang="en-US" sz="700" b="1" spc="150" kern="0" dirty="0">
                <a:solidFill>
                  <a:srgbClr val="FFFFFF"/>
                </a:solidFill>
                <a:latin typeface="Courier New" pitchFamily="34" charset="0"/>
                <a:ea typeface="Courier New" pitchFamily="34" charset="-122"/>
                <a:cs typeface="Courier New" pitchFamily="34" charset="-120"/>
              </a:rPr>
              <a:t>SHIPPED</a:t>
            </a:r>
            <a:endParaRPr lang="en-US" sz="700" dirty="0"/>
          </a:p>
        </p:txBody>
      </p:sp>
      <p:sp>
        <p:nvSpPr>
          <p:cNvPr id="8" name="Text 6"/>
          <p:cNvSpPr/>
          <p:nvPr/>
        </p:nvSpPr>
        <p:spPr>
          <a:xfrm>
            <a:off x="475488" y="1755648"/>
            <a:ext cx="4005072" cy="256032"/>
          </a:xfrm>
          <a:prstGeom prst="rect">
            <a:avLst/>
          </a:prstGeom>
          <a:noFill/>
          <a:ln/>
        </p:spPr>
        <p:txBody>
          <a:bodyPr wrap="square" lIns="0" tIns="0" rIns="0" bIns="0" rtlCol="0" anchor="ctr"/>
          <a:lstStyle/>
          <a:p>
            <a:pPr indent="0" marL="0">
              <a:buNone/>
            </a:pPr>
            <a:r>
              <a:rPr lang="en-US" sz="1100" b="1" dirty="0">
                <a:solidFill>
                  <a:srgbClr val="0D0D0D"/>
                </a:solidFill>
                <a:latin typeface="Arial Black" pitchFamily="34" charset="0"/>
                <a:ea typeface="Arial Black" pitchFamily="34" charset="-122"/>
                <a:cs typeface="Arial Black" pitchFamily="34" charset="-120"/>
              </a:rPr>
              <a:t>Full G$ Redemption Loop</a:t>
            </a:r>
            <a:endParaRPr lang="en-US" sz="1100" dirty="0"/>
          </a:p>
        </p:txBody>
      </p:sp>
      <p:sp>
        <p:nvSpPr>
          <p:cNvPr id="9" name="Text 7"/>
          <p:cNvSpPr/>
          <p:nvPr/>
        </p:nvSpPr>
        <p:spPr>
          <a:xfrm>
            <a:off x="475488" y="2020824"/>
            <a:ext cx="4005072" cy="237744"/>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SovPoints → G$ lifecycle live. 104K+ GS redeemed on-chain. Self-custody. payoutG$ on SovAdsManager. The loop closed.</a:t>
            </a:r>
            <a:endParaRPr lang="en-US" sz="800" dirty="0"/>
          </a:p>
        </p:txBody>
      </p:sp>
      <p:sp>
        <p:nvSpPr>
          <p:cNvPr id="10" name="Shape 8"/>
          <p:cNvSpPr/>
          <p:nvPr/>
        </p:nvSpPr>
        <p:spPr>
          <a:xfrm>
            <a:off x="4828032" y="1481328"/>
            <a:ext cx="4242816" cy="822960"/>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11" name="Shape 9"/>
          <p:cNvSpPr/>
          <p:nvPr/>
        </p:nvSpPr>
        <p:spPr>
          <a:xfrm>
            <a:off x="4828032" y="1481328"/>
            <a:ext cx="4242816" cy="237744"/>
          </a:xfrm>
          <a:prstGeom prst="rect">
            <a:avLst/>
          </a:prstGeom>
          <a:solidFill>
            <a:srgbClr val="00A550"/>
          </a:solidFill>
          <a:ln w="12700">
            <a:solidFill>
              <a:srgbClr val="0D0D0D"/>
            </a:solidFill>
            <a:prstDash val="solid"/>
          </a:ln>
        </p:spPr>
      </p:sp>
      <p:sp>
        <p:nvSpPr>
          <p:cNvPr id="12" name="Text 10"/>
          <p:cNvSpPr/>
          <p:nvPr/>
        </p:nvSpPr>
        <p:spPr>
          <a:xfrm>
            <a:off x="4937760" y="1481328"/>
            <a:ext cx="4023360" cy="237744"/>
          </a:xfrm>
          <a:prstGeom prst="rect">
            <a:avLst/>
          </a:prstGeom>
          <a:noFill/>
          <a:ln/>
        </p:spPr>
        <p:txBody>
          <a:bodyPr wrap="square" lIns="0" tIns="0" rIns="0" bIns="0" rtlCol="0" anchor="ctr"/>
          <a:lstStyle/>
          <a:p>
            <a:pPr indent="0" marL="0">
              <a:buNone/>
            </a:pPr>
            <a:r>
              <a:rPr lang="en-US" sz="700" b="1" spc="150" kern="0" dirty="0">
                <a:solidFill>
                  <a:srgbClr val="FFFFFF"/>
                </a:solidFill>
                <a:latin typeface="Courier New" pitchFamily="34" charset="0"/>
                <a:ea typeface="Courier New" pitchFamily="34" charset="-122"/>
                <a:cs typeface="Courier New" pitchFamily="34" charset="-120"/>
              </a:rPr>
              <a:t>SHIPPED</a:t>
            </a:r>
            <a:endParaRPr lang="en-US" sz="700" dirty="0"/>
          </a:p>
        </p:txBody>
      </p:sp>
      <p:sp>
        <p:nvSpPr>
          <p:cNvPr id="13" name="Text 11"/>
          <p:cNvSpPr/>
          <p:nvPr/>
        </p:nvSpPr>
        <p:spPr>
          <a:xfrm>
            <a:off x="4937760" y="1755648"/>
            <a:ext cx="4005072" cy="256032"/>
          </a:xfrm>
          <a:prstGeom prst="rect">
            <a:avLst/>
          </a:prstGeom>
          <a:noFill/>
          <a:ln/>
        </p:spPr>
        <p:txBody>
          <a:bodyPr wrap="square" lIns="0" tIns="0" rIns="0" bIns="0" rtlCol="0" anchor="ctr"/>
          <a:lstStyle/>
          <a:p>
            <a:pPr indent="0" marL="0">
              <a:buNone/>
            </a:pPr>
            <a:r>
              <a:rPr lang="en-US" sz="1100" b="1" dirty="0">
                <a:solidFill>
                  <a:srgbClr val="0D0D0D"/>
                </a:solidFill>
                <a:latin typeface="Arial Black" pitchFamily="34" charset="0"/>
                <a:ea typeface="Arial Black" pitchFamily="34" charset="-122"/>
                <a:cs typeface="Arial Black" pitchFamily="34" charset="-120"/>
              </a:rPr>
              <a:t>12 Live Campaigns</a:t>
            </a:r>
            <a:endParaRPr lang="en-US" sz="1100" dirty="0"/>
          </a:p>
        </p:txBody>
      </p:sp>
      <p:sp>
        <p:nvSpPr>
          <p:cNvPr id="14" name="Text 12"/>
          <p:cNvSpPr/>
          <p:nvPr/>
        </p:nvSpPr>
        <p:spPr>
          <a:xfrm>
            <a:off x="4937760" y="2020824"/>
            <a:ext cx="4005072" cy="237744"/>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Went from 1 → 3 → 6 → 12 campaigns. Consistent 2× doubling every epoch. Organic advertiser demand, no paid acquisition.</a:t>
            </a:r>
            <a:endParaRPr lang="en-US" sz="800" dirty="0"/>
          </a:p>
        </p:txBody>
      </p:sp>
      <p:sp>
        <p:nvSpPr>
          <p:cNvPr id="15" name="Shape 13"/>
          <p:cNvSpPr/>
          <p:nvPr/>
        </p:nvSpPr>
        <p:spPr>
          <a:xfrm>
            <a:off x="365760" y="2414016"/>
            <a:ext cx="4242816" cy="822960"/>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16" name="Shape 14"/>
          <p:cNvSpPr/>
          <p:nvPr/>
        </p:nvSpPr>
        <p:spPr>
          <a:xfrm>
            <a:off x="365760" y="2414016"/>
            <a:ext cx="4242816" cy="237744"/>
          </a:xfrm>
          <a:prstGeom prst="rect">
            <a:avLst/>
          </a:prstGeom>
          <a:solidFill>
            <a:srgbClr val="00A550"/>
          </a:solidFill>
          <a:ln w="12700">
            <a:solidFill>
              <a:srgbClr val="0D0D0D"/>
            </a:solidFill>
            <a:prstDash val="solid"/>
          </a:ln>
        </p:spPr>
      </p:sp>
      <p:sp>
        <p:nvSpPr>
          <p:cNvPr id="17" name="Text 15"/>
          <p:cNvSpPr/>
          <p:nvPr/>
        </p:nvSpPr>
        <p:spPr>
          <a:xfrm>
            <a:off x="475488" y="2414016"/>
            <a:ext cx="4023360" cy="237744"/>
          </a:xfrm>
          <a:prstGeom prst="rect">
            <a:avLst/>
          </a:prstGeom>
          <a:noFill/>
          <a:ln/>
        </p:spPr>
        <p:txBody>
          <a:bodyPr wrap="square" lIns="0" tIns="0" rIns="0" bIns="0" rtlCol="0" anchor="ctr"/>
          <a:lstStyle/>
          <a:p>
            <a:pPr indent="0" marL="0">
              <a:buNone/>
            </a:pPr>
            <a:r>
              <a:rPr lang="en-US" sz="700" b="1" spc="150" kern="0" dirty="0">
                <a:solidFill>
                  <a:srgbClr val="FFFFFF"/>
                </a:solidFill>
                <a:latin typeface="Courier New" pitchFamily="34" charset="0"/>
                <a:ea typeface="Courier New" pitchFamily="34" charset="-122"/>
                <a:cs typeface="Courier New" pitchFamily="34" charset="-120"/>
              </a:rPr>
              <a:t>SHIPPED</a:t>
            </a:r>
            <a:endParaRPr lang="en-US" sz="700" dirty="0"/>
          </a:p>
        </p:txBody>
      </p:sp>
      <p:sp>
        <p:nvSpPr>
          <p:cNvPr id="18" name="Text 16"/>
          <p:cNvSpPr/>
          <p:nvPr/>
        </p:nvSpPr>
        <p:spPr>
          <a:xfrm>
            <a:off x="475488" y="2688336"/>
            <a:ext cx="4005072" cy="256032"/>
          </a:xfrm>
          <a:prstGeom prst="rect">
            <a:avLst/>
          </a:prstGeom>
          <a:noFill/>
          <a:ln/>
        </p:spPr>
        <p:txBody>
          <a:bodyPr wrap="square" lIns="0" tIns="0" rIns="0" bIns="0" rtlCol="0" anchor="ctr"/>
          <a:lstStyle/>
          <a:p>
            <a:pPr indent="0" marL="0">
              <a:buNone/>
            </a:pPr>
            <a:r>
              <a:rPr lang="en-US" sz="1100" b="1" dirty="0">
                <a:solidFill>
                  <a:srgbClr val="0D0D0D"/>
                </a:solidFill>
                <a:latin typeface="Arial Black" pitchFamily="34" charset="0"/>
                <a:ea typeface="Arial Black" pitchFamily="34" charset="-122"/>
                <a:cs typeface="Arial Black" pitchFamily="34" charset="-120"/>
              </a:rPr>
              <a:t>8 Publisher Sites</a:t>
            </a:r>
            <a:endParaRPr lang="en-US" sz="1100" dirty="0"/>
          </a:p>
        </p:txBody>
      </p:sp>
      <p:sp>
        <p:nvSpPr>
          <p:cNvPr id="19" name="Text 17"/>
          <p:cNvSpPr/>
          <p:nvPr/>
        </p:nvSpPr>
        <p:spPr>
          <a:xfrm>
            <a:off x="475488" y="2953512"/>
            <a:ext cx="4005072" cy="237744"/>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From 1 to 8 active publisher sites. Structured onboarding. Revenue share rails. Activation time cut 40%.</a:t>
            </a:r>
            <a:endParaRPr lang="en-US" sz="800" dirty="0"/>
          </a:p>
        </p:txBody>
      </p:sp>
      <p:sp>
        <p:nvSpPr>
          <p:cNvPr id="20" name="Shape 18"/>
          <p:cNvSpPr/>
          <p:nvPr/>
        </p:nvSpPr>
        <p:spPr>
          <a:xfrm>
            <a:off x="4828032" y="2414016"/>
            <a:ext cx="4242816" cy="822960"/>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21" name="Shape 19"/>
          <p:cNvSpPr/>
          <p:nvPr/>
        </p:nvSpPr>
        <p:spPr>
          <a:xfrm>
            <a:off x="4828032" y="2414016"/>
            <a:ext cx="4242816" cy="237744"/>
          </a:xfrm>
          <a:prstGeom prst="rect">
            <a:avLst/>
          </a:prstGeom>
          <a:solidFill>
            <a:srgbClr val="00A550"/>
          </a:solidFill>
          <a:ln w="12700">
            <a:solidFill>
              <a:srgbClr val="0D0D0D"/>
            </a:solidFill>
            <a:prstDash val="solid"/>
          </a:ln>
        </p:spPr>
      </p:sp>
      <p:sp>
        <p:nvSpPr>
          <p:cNvPr id="22" name="Text 20"/>
          <p:cNvSpPr/>
          <p:nvPr/>
        </p:nvSpPr>
        <p:spPr>
          <a:xfrm>
            <a:off x="4937760" y="2414016"/>
            <a:ext cx="4023360" cy="237744"/>
          </a:xfrm>
          <a:prstGeom prst="rect">
            <a:avLst/>
          </a:prstGeom>
          <a:noFill/>
          <a:ln/>
        </p:spPr>
        <p:txBody>
          <a:bodyPr wrap="square" lIns="0" tIns="0" rIns="0" bIns="0" rtlCol="0" anchor="ctr"/>
          <a:lstStyle/>
          <a:p>
            <a:pPr indent="0" marL="0">
              <a:buNone/>
            </a:pPr>
            <a:r>
              <a:rPr lang="en-US" sz="700" b="1" spc="150" kern="0" dirty="0">
                <a:solidFill>
                  <a:srgbClr val="FFFFFF"/>
                </a:solidFill>
                <a:latin typeface="Courier New" pitchFamily="34" charset="0"/>
                <a:ea typeface="Courier New" pitchFamily="34" charset="-122"/>
                <a:cs typeface="Courier New" pitchFamily="34" charset="-120"/>
              </a:rPr>
              <a:t>SHIPPED</a:t>
            </a:r>
            <a:endParaRPr lang="en-US" sz="700" dirty="0"/>
          </a:p>
        </p:txBody>
      </p:sp>
      <p:sp>
        <p:nvSpPr>
          <p:cNvPr id="23" name="Text 21"/>
          <p:cNvSpPr/>
          <p:nvPr/>
        </p:nvSpPr>
        <p:spPr>
          <a:xfrm>
            <a:off x="4937760" y="2688336"/>
            <a:ext cx="4005072" cy="256032"/>
          </a:xfrm>
          <a:prstGeom prst="rect">
            <a:avLst/>
          </a:prstGeom>
          <a:noFill/>
          <a:ln/>
        </p:spPr>
        <p:txBody>
          <a:bodyPr wrap="square" lIns="0" tIns="0" rIns="0" bIns="0" rtlCol="0" anchor="ctr"/>
          <a:lstStyle/>
          <a:p>
            <a:pPr indent="0" marL="0">
              <a:buNone/>
            </a:pPr>
            <a:r>
              <a:rPr lang="en-US" sz="1100" b="1" dirty="0">
                <a:solidFill>
                  <a:srgbClr val="0D0D0D"/>
                </a:solidFill>
                <a:latin typeface="Arial Black" pitchFamily="34" charset="0"/>
                <a:ea typeface="Arial Black" pitchFamily="34" charset="-122"/>
                <a:cs typeface="Arial Black" pitchFamily="34" charset="-120"/>
              </a:rPr>
              <a:t>SDK V2 + Render Verify</a:t>
            </a:r>
            <a:endParaRPr lang="en-US" sz="1100" dirty="0"/>
          </a:p>
        </p:txBody>
      </p:sp>
      <p:sp>
        <p:nvSpPr>
          <p:cNvPr id="24" name="Text 22"/>
          <p:cNvSpPr/>
          <p:nvPr/>
        </p:nvSpPr>
        <p:spPr>
          <a:xfrm>
            <a:off x="4937760" y="2953512"/>
            <a:ext cx="4005072" cy="237744"/>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Beacon API, IntersectionObserver (≥50% viewport), fingerprinting, dev mode. Impressions only counted when real.</a:t>
            </a:r>
            <a:endParaRPr lang="en-US" sz="800" dirty="0"/>
          </a:p>
        </p:txBody>
      </p:sp>
      <p:sp>
        <p:nvSpPr>
          <p:cNvPr id="25" name="Shape 23"/>
          <p:cNvSpPr/>
          <p:nvPr/>
        </p:nvSpPr>
        <p:spPr>
          <a:xfrm>
            <a:off x="365760" y="3346704"/>
            <a:ext cx="4242816" cy="822960"/>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26" name="Shape 24"/>
          <p:cNvSpPr/>
          <p:nvPr/>
        </p:nvSpPr>
        <p:spPr>
          <a:xfrm>
            <a:off x="365760" y="3346704"/>
            <a:ext cx="4242816" cy="237744"/>
          </a:xfrm>
          <a:prstGeom prst="rect">
            <a:avLst/>
          </a:prstGeom>
          <a:solidFill>
            <a:srgbClr val="00A550"/>
          </a:solidFill>
          <a:ln w="12700">
            <a:solidFill>
              <a:srgbClr val="0D0D0D"/>
            </a:solidFill>
            <a:prstDash val="solid"/>
          </a:ln>
        </p:spPr>
      </p:sp>
      <p:sp>
        <p:nvSpPr>
          <p:cNvPr id="27" name="Text 25"/>
          <p:cNvSpPr/>
          <p:nvPr/>
        </p:nvSpPr>
        <p:spPr>
          <a:xfrm>
            <a:off x="475488" y="3346704"/>
            <a:ext cx="4023360" cy="237744"/>
          </a:xfrm>
          <a:prstGeom prst="rect">
            <a:avLst/>
          </a:prstGeom>
          <a:noFill/>
          <a:ln/>
        </p:spPr>
        <p:txBody>
          <a:bodyPr wrap="square" lIns="0" tIns="0" rIns="0" bIns="0" rtlCol="0" anchor="ctr"/>
          <a:lstStyle/>
          <a:p>
            <a:pPr indent="0" marL="0">
              <a:buNone/>
            </a:pPr>
            <a:r>
              <a:rPr lang="en-US" sz="700" b="1" spc="150" kern="0" dirty="0">
                <a:solidFill>
                  <a:srgbClr val="FFFFFF"/>
                </a:solidFill>
                <a:latin typeface="Courier New" pitchFamily="34" charset="0"/>
                <a:ea typeface="Courier New" pitchFamily="34" charset="-122"/>
                <a:cs typeface="Courier New" pitchFamily="34" charset="-120"/>
              </a:rPr>
              <a:t>SHIPPED</a:t>
            </a:r>
            <a:endParaRPr lang="en-US" sz="700" dirty="0"/>
          </a:p>
        </p:txBody>
      </p:sp>
      <p:sp>
        <p:nvSpPr>
          <p:cNvPr id="28" name="Text 26"/>
          <p:cNvSpPr/>
          <p:nvPr/>
        </p:nvSpPr>
        <p:spPr>
          <a:xfrm>
            <a:off x="475488" y="3621024"/>
            <a:ext cx="4005072" cy="256032"/>
          </a:xfrm>
          <a:prstGeom prst="rect">
            <a:avLst/>
          </a:prstGeom>
          <a:noFill/>
          <a:ln/>
        </p:spPr>
        <p:txBody>
          <a:bodyPr wrap="square" lIns="0" tIns="0" rIns="0" bIns="0" rtlCol="0" anchor="ctr"/>
          <a:lstStyle/>
          <a:p>
            <a:pPr indent="0" marL="0">
              <a:buNone/>
            </a:pPr>
            <a:r>
              <a:rPr lang="en-US" sz="1100" b="1" dirty="0">
                <a:solidFill>
                  <a:srgbClr val="0D0D0D"/>
                </a:solidFill>
                <a:latin typeface="Arial Black" pitchFamily="34" charset="0"/>
                <a:ea typeface="Arial Black" pitchFamily="34" charset="-122"/>
                <a:cs typeface="Arial Black" pitchFamily="34" charset="-120"/>
              </a:rPr>
              <a:t>Engagement Rewards Contract</a:t>
            </a:r>
            <a:endParaRPr lang="en-US" sz="1100" dirty="0"/>
          </a:p>
        </p:txBody>
      </p:sp>
      <p:sp>
        <p:nvSpPr>
          <p:cNvPr id="29" name="Text 27"/>
          <p:cNvSpPr/>
          <p:nvPr/>
        </p:nvSpPr>
        <p:spPr>
          <a:xfrm>
            <a:off x="475488" y="3886200"/>
            <a:ext cx="4005072" cy="237744"/>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SovAds registered on GoodDollar EngagementRewards contract. Identity SDK integrated. Verified users earn prioritised rewards.</a:t>
            </a:r>
            <a:endParaRPr lang="en-US" sz="800" dirty="0"/>
          </a:p>
        </p:txBody>
      </p:sp>
      <p:sp>
        <p:nvSpPr>
          <p:cNvPr id="30" name="Shape 28"/>
          <p:cNvSpPr/>
          <p:nvPr/>
        </p:nvSpPr>
        <p:spPr>
          <a:xfrm>
            <a:off x="4828032" y="3346704"/>
            <a:ext cx="4242816" cy="822960"/>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31" name="Shape 29"/>
          <p:cNvSpPr/>
          <p:nvPr/>
        </p:nvSpPr>
        <p:spPr>
          <a:xfrm>
            <a:off x="4828032" y="3346704"/>
            <a:ext cx="4242816" cy="237744"/>
          </a:xfrm>
          <a:prstGeom prst="rect">
            <a:avLst/>
          </a:prstGeom>
          <a:solidFill>
            <a:srgbClr val="00A550"/>
          </a:solidFill>
          <a:ln w="12700">
            <a:solidFill>
              <a:srgbClr val="0D0D0D"/>
            </a:solidFill>
            <a:prstDash val="solid"/>
          </a:ln>
        </p:spPr>
      </p:sp>
      <p:sp>
        <p:nvSpPr>
          <p:cNvPr id="32" name="Text 30"/>
          <p:cNvSpPr/>
          <p:nvPr/>
        </p:nvSpPr>
        <p:spPr>
          <a:xfrm>
            <a:off x="4937760" y="3346704"/>
            <a:ext cx="4023360" cy="237744"/>
          </a:xfrm>
          <a:prstGeom prst="rect">
            <a:avLst/>
          </a:prstGeom>
          <a:noFill/>
          <a:ln/>
        </p:spPr>
        <p:txBody>
          <a:bodyPr wrap="square" lIns="0" tIns="0" rIns="0" bIns="0" rtlCol="0" anchor="ctr"/>
          <a:lstStyle/>
          <a:p>
            <a:pPr indent="0" marL="0">
              <a:buNone/>
            </a:pPr>
            <a:r>
              <a:rPr lang="en-US" sz="700" b="1" spc="150" kern="0" dirty="0">
                <a:solidFill>
                  <a:srgbClr val="FFFFFF"/>
                </a:solidFill>
                <a:latin typeface="Courier New" pitchFamily="34" charset="0"/>
                <a:ea typeface="Courier New" pitchFamily="34" charset="-122"/>
                <a:cs typeface="Courier New" pitchFamily="34" charset="-120"/>
              </a:rPr>
              <a:t>SHIPPED</a:t>
            </a:r>
            <a:endParaRPr lang="en-US" sz="700" dirty="0"/>
          </a:p>
        </p:txBody>
      </p:sp>
      <p:sp>
        <p:nvSpPr>
          <p:cNvPr id="33" name="Text 31"/>
          <p:cNvSpPr/>
          <p:nvPr/>
        </p:nvSpPr>
        <p:spPr>
          <a:xfrm>
            <a:off x="4937760" y="3621024"/>
            <a:ext cx="4005072" cy="256032"/>
          </a:xfrm>
          <a:prstGeom prst="rect">
            <a:avLst/>
          </a:prstGeom>
          <a:noFill/>
          <a:ln/>
        </p:spPr>
        <p:txBody>
          <a:bodyPr wrap="square" lIns="0" tIns="0" rIns="0" bIns="0" rtlCol="0" anchor="ctr"/>
          <a:lstStyle/>
          <a:p>
            <a:pPr indent="0" marL="0">
              <a:buNone/>
            </a:pPr>
            <a:r>
              <a:rPr lang="en-US" sz="1100" b="1" dirty="0">
                <a:solidFill>
                  <a:srgbClr val="0D0D0D"/>
                </a:solidFill>
                <a:latin typeface="Arial Black" pitchFamily="34" charset="0"/>
                <a:ea typeface="Arial Black" pitchFamily="34" charset="-122"/>
                <a:cs typeface="Arial Black" pitchFamily="34" charset="-120"/>
              </a:rPr>
              <a:t>Token Oracle + On-Chain Audit</a:t>
            </a:r>
            <a:endParaRPr lang="en-US" sz="1100" dirty="0"/>
          </a:p>
        </p:txBody>
      </p:sp>
      <p:sp>
        <p:nvSpPr>
          <p:cNvPr id="34" name="Text 32"/>
          <p:cNvSpPr/>
          <p:nvPr/>
        </p:nvSpPr>
        <p:spPr>
          <a:xfrm>
            <a:off x="4937760" y="3886200"/>
            <a:ext cx="4005072" cy="237744"/>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Live G$, GS, cUSD, USDC pricing oracle. On-chain publisher audit cross-checked against Celo mainnet events.</a:t>
            </a:r>
            <a:endParaRPr lang="en-US" sz="800" dirty="0"/>
          </a:p>
        </p:txBody>
      </p:sp>
      <p:sp>
        <p:nvSpPr>
          <p:cNvPr id="35" name="Shape 33"/>
          <p:cNvSpPr/>
          <p:nvPr/>
        </p:nvSpPr>
        <p:spPr>
          <a:xfrm>
            <a:off x="365760" y="4279392"/>
            <a:ext cx="4242816" cy="822960"/>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36" name="Shape 34"/>
          <p:cNvSpPr/>
          <p:nvPr/>
        </p:nvSpPr>
        <p:spPr>
          <a:xfrm>
            <a:off x="365760" y="4279392"/>
            <a:ext cx="4242816" cy="237744"/>
          </a:xfrm>
          <a:prstGeom prst="rect">
            <a:avLst/>
          </a:prstGeom>
          <a:solidFill>
            <a:srgbClr val="00B8C4"/>
          </a:solidFill>
          <a:ln w="12700">
            <a:solidFill>
              <a:srgbClr val="0D0D0D"/>
            </a:solidFill>
            <a:prstDash val="solid"/>
          </a:ln>
        </p:spPr>
      </p:sp>
      <p:sp>
        <p:nvSpPr>
          <p:cNvPr id="37" name="Text 35"/>
          <p:cNvSpPr/>
          <p:nvPr/>
        </p:nvSpPr>
        <p:spPr>
          <a:xfrm>
            <a:off x="475488" y="4279392"/>
            <a:ext cx="4023360" cy="237744"/>
          </a:xfrm>
          <a:prstGeom prst="rect">
            <a:avLst/>
          </a:prstGeom>
          <a:noFill/>
          <a:ln/>
        </p:spPr>
        <p:txBody>
          <a:bodyPr wrap="square" lIns="0" tIns="0" rIns="0" bIns="0" rtlCol="0" anchor="ctr"/>
          <a:lstStyle/>
          <a:p>
            <a:pPr indent="0" marL="0">
              <a:buNone/>
            </a:pPr>
            <a:r>
              <a:rPr lang="en-US" sz="700" b="1" spc="150" kern="0" dirty="0">
                <a:solidFill>
                  <a:srgbClr val="0D0D0D"/>
                </a:solidFill>
                <a:latin typeface="Courier New" pitchFamily="34" charset="0"/>
                <a:ea typeface="Courier New" pitchFamily="34" charset="-122"/>
                <a:cs typeface="Courier New" pitchFamily="34" charset="-120"/>
              </a:rPr>
              <a:t>LIVE</a:t>
            </a:r>
            <a:endParaRPr lang="en-US" sz="700" dirty="0"/>
          </a:p>
        </p:txBody>
      </p:sp>
      <p:sp>
        <p:nvSpPr>
          <p:cNvPr id="38" name="Text 36"/>
          <p:cNvSpPr/>
          <p:nvPr/>
        </p:nvSpPr>
        <p:spPr>
          <a:xfrm>
            <a:off x="475488" y="4553712"/>
            <a:ext cx="4005072" cy="256032"/>
          </a:xfrm>
          <a:prstGeom prst="rect">
            <a:avLst/>
          </a:prstGeom>
          <a:noFill/>
          <a:ln/>
        </p:spPr>
        <p:txBody>
          <a:bodyPr wrap="square" lIns="0" tIns="0" rIns="0" bIns="0" rtlCol="0" anchor="ctr"/>
          <a:lstStyle/>
          <a:p>
            <a:pPr indent="0" marL="0">
              <a:buNone/>
            </a:pPr>
            <a:r>
              <a:rPr lang="en-US" sz="1100" b="1" dirty="0">
                <a:solidFill>
                  <a:srgbClr val="0D0D0D"/>
                </a:solidFill>
                <a:latin typeface="Arial Black" pitchFamily="34" charset="0"/>
                <a:ea typeface="Arial Black" pitchFamily="34" charset="-122"/>
                <a:cs typeface="Arial Black" pitchFamily="34" charset="-120"/>
              </a:rPr>
              <a:t>Public Leaderboard (+20%)</a:t>
            </a:r>
            <a:endParaRPr lang="en-US" sz="1100" dirty="0"/>
          </a:p>
        </p:txBody>
      </p:sp>
      <p:sp>
        <p:nvSpPr>
          <p:cNvPr id="39" name="Text 37"/>
          <p:cNvSpPr/>
          <p:nvPr/>
        </p:nvSpPr>
        <p:spPr>
          <a:xfrm>
            <a:off x="475488" y="4818888"/>
            <a:ext cx="4005072" cy="237744"/>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Redemption leaderboard at /leaderboard. 20% growth in ranked wallets. Every wallet rank is a verifiable on-chain tx.</a:t>
            </a:r>
            <a:endParaRPr lang="en-US" sz="800" dirty="0"/>
          </a:p>
        </p:txBody>
      </p:sp>
      <p:sp>
        <p:nvSpPr>
          <p:cNvPr id="40" name="Shape 38"/>
          <p:cNvSpPr/>
          <p:nvPr/>
        </p:nvSpPr>
        <p:spPr>
          <a:xfrm>
            <a:off x="4828032" y="4279392"/>
            <a:ext cx="4242816" cy="822960"/>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41" name="Shape 39"/>
          <p:cNvSpPr/>
          <p:nvPr/>
        </p:nvSpPr>
        <p:spPr>
          <a:xfrm>
            <a:off x="4828032" y="4279392"/>
            <a:ext cx="4242816" cy="237744"/>
          </a:xfrm>
          <a:prstGeom prst="rect">
            <a:avLst/>
          </a:prstGeom>
          <a:solidFill>
            <a:srgbClr val="00B8C4"/>
          </a:solidFill>
          <a:ln w="12700">
            <a:solidFill>
              <a:srgbClr val="0D0D0D"/>
            </a:solidFill>
            <a:prstDash val="solid"/>
          </a:ln>
        </p:spPr>
      </p:sp>
      <p:sp>
        <p:nvSpPr>
          <p:cNvPr id="42" name="Text 40"/>
          <p:cNvSpPr/>
          <p:nvPr/>
        </p:nvSpPr>
        <p:spPr>
          <a:xfrm>
            <a:off x="4937760" y="4279392"/>
            <a:ext cx="4023360" cy="237744"/>
          </a:xfrm>
          <a:prstGeom prst="rect">
            <a:avLst/>
          </a:prstGeom>
          <a:noFill/>
          <a:ln/>
        </p:spPr>
        <p:txBody>
          <a:bodyPr wrap="square" lIns="0" tIns="0" rIns="0" bIns="0" rtlCol="0" anchor="ctr"/>
          <a:lstStyle/>
          <a:p>
            <a:pPr indent="0" marL="0">
              <a:buNone/>
            </a:pPr>
            <a:r>
              <a:rPr lang="en-US" sz="700" b="1" spc="150" kern="0" dirty="0">
                <a:solidFill>
                  <a:srgbClr val="0D0D0D"/>
                </a:solidFill>
                <a:latin typeface="Courier New" pitchFamily="34" charset="0"/>
                <a:ea typeface="Courier New" pitchFamily="34" charset="-122"/>
                <a:cs typeface="Courier New" pitchFamily="34" charset="-120"/>
              </a:rPr>
              <a:t>LIVE</a:t>
            </a:r>
            <a:endParaRPr lang="en-US" sz="700" dirty="0"/>
          </a:p>
        </p:txBody>
      </p:sp>
      <p:sp>
        <p:nvSpPr>
          <p:cNvPr id="43" name="Text 41"/>
          <p:cNvSpPr/>
          <p:nvPr/>
        </p:nvSpPr>
        <p:spPr>
          <a:xfrm>
            <a:off x="4937760" y="4553712"/>
            <a:ext cx="4005072" cy="256032"/>
          </a:xfrm>
          <a:prstGeom prst="rect">
            <a:avLst/>
          </a:prstGeom>
          <a:noFill/>
          <a:ln/>
        </p:spPr>
        <p:txBody>
          <a:bodyPr wrap="square" lIns="0" tIns="0" rIns="0" bIns="0" rtlCol="0" anchor="ctr"/>
          <a:lstStyle/>
          <a:p>
            <a:pPr indent="0" marL="0">
              <a:buNone/>
            </a:pPr>
            <a:r>
              <a:rPr lang="en-US" sz="1100" b="1" dirty="0">
                <a:solidFill>
                  <a:srgbClr val="0D0D0D"/>
                </a:solidFill>
                <a:latin typeface="Arial Black" pitchFamily="34" charset="0"/>
                <a:ea typeface="Arial Black" pitchFamily="34" charset="-122"/>
                <a:cs typeface="Arial Black" pitchFamily="34" charset="-120"/>
              </a:rPr>
              <a:t>Backoffice + Analytics Dashboard</a:t>
            </a:r>
            <a:endParaRPr lang="en-US" sz="1100" dirty="0"/>
          </a:p>
        </p:txBody>
      </p:sp>
      <p:sp>
        <p:nvSpPr>
          <p:cNvPr id="44" name="Text 42"/>
          <p:cNvSpPr/>
          <p:nvPr/>
        </p:nvSpPr>
        <p:spPr>
          <a:xfrm>
            <a:off x="4937760" y="4818888"/>
            <a:ext cx="4005072" cy="237744"/>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Real-time G$ distribution, claims, verified interactions per campaign, publisher financial rails, admin panel.</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0EC"/>
        </a:solidFill>
      </p:bgPr>
    </p:bg>
    <p:spTree>
      <p:nvGrpSpPr>
        <p:cNvPr id="1" name=""/>
        <p:cNvGrpSpPr/>
        <p:nvPr/>
      </p:nvGrpSpPr>
      <p:grpSpPr>
        <a:xfrm>
          <a:off x="0" y="0"/>
          <a:ext cx="0" cy="0"/>
          <a:chOff x="0" y="0"/>
          <a:chExt cx="0" cy="0"/>
        </a:xfrm>
      </p:grpSpPr>
      <p:sp>
        <p:nvSpPr>
          <p:cNvPr id="2" name="Text 0"/>
          <p:cNvSpPr/>
          <p:nvPr/>
        </p:nvSpPr>
        <p:spPr>
          <a:xfrm>
            <a:off x="365760" y="182880"/>
            <a:ext cx="8412480" cy="201168"/>
          </a:xfrm>
          <a:prstGeom prst="rect">
            <a:avLst/>
          </a:prstGeom>
          <a:noFill/>
          <a:ln/>
        </p:spPr>
        <p:txBody>
          <a:bodyPr wrap="square" lIns="0" tIns="0" rIns="0" bIns="0" rtlCol="0" anchor="ctr"/>
          <a:lstStyle/>
          <a:p>
            <a:pPr algn="l" indent="0" marL="0">
              <a:buNone/>
            </a:pPr>
            <a:r>
              <a:rPr lang="en-US" sz="750" b="1" spc="200" kern="0" dirty="0">
                <a:solidFill>
                  <a:srgbClr val="888888"/>
                </a:solidFill>
                <a:latin typeface="Courier New" pitchFamily="34" charset="0"/>
                <a:ea typeface="Courier New" pitchFamily="34" charset="-122"/>
                <a:cs typeface="Courier New" pitchFamily="34" charset="-120"/>
              </a:rPr>
              <a:t>SEASON 3  ·  HONEST GAPS</a:t>
            </a:r>
            <a:endParaRPr lang="en-US" sz="750" dirty="0"/>
          </a:p>
        </p:txBody>
      </p:sp>
      <p:sp>
        <p:nvSpPr>
          <p:cNvPr id="3" name="Text 1"/>
          <p:cNvSpPr/>
          <p:nvPr/>
        </p:nvSpPr>
        <p:spPr>
          <a:xfrm>
            <a:off x="365760" y="438912"/>
            <a:ext cx="8412480" cy="685800"/>
          </a:xfrm>
          <a:prstGeom prst="rect">
            <a:avLst/>
          </a:prstGeom>
          <a:noFill/>
          <a:ln/>
        </p:spPr>
        <p:txBody>
          <a:bodyPr wrap="square" lIns="0" tIns="0" rIns="0" bIns="0" rtlCol="0" anchor="ctr"/>
          <a:lstStyle/>
          <a:p>
            <a:pPr algn="l" indent="0" marL="0">
              <a:buNone/>
            </a:pPr>
            <a:r>
              <a:rPr lang="en-US" sz="3400" b="1" dirty="0">
                <a:solidFill>
                  <a:srgbClr val="0D0D0D"/>
                </a:solidFill>
                <a:latin typeface="Arial Black" pitchFamily="34" charset="0"/>
                <a:ea typeface="Arial Black" pitchFamily="34" charset="-122"/>
                <a:cs typeface="Arial Black" pitchFamily="34" charset="-120"/>
              </a:rPr>
              <a:t>WHAT WE DIDN'T DO — AND WHY</a:t>
            </a:r>
            <a:endParaRPr lang="en-US" sz="3400" dirty="0"/>
          </a:p>
        </p:txBody>
      </p:sp>
      <p:sp>
        <p:nvSpPr>
          <p:cNvPr id="4" name="Text 2"/>
          <p:cNvSpPr/>
          <p:nvPr/>
        </p:nvSpPr>
        <p:spPr>
          <a:xfrm>
            <a:off x="365760" y="1170432"/>
            <a:ext cx="8412480" cy="237744"/>
          </a:xfrm>
          <a:prstGeom prst="rect">
            <a:avLst/>
          </a:prstGeom>
          <a:noFill/>
          <a:ln/>
        </p:spPr>
        <p:txBody>
          <a:bodyPr wrap="square" lIns="0" tIns="0" rIns="0" bIns="0" rtlCol="0" anchor="ctr"/>
          <a:lstStyle/>
          <a:p>
            <a:pPr algn="l" indent="0" marL="0">
              <a:buNone/>
            </a:pPr>
            <a:r>
              <a:rPr lang="en-US" sz="1000" dirty="0">
                <a:solidFill>
                  <a:srgbClr val="888888"/>
                </a:solidFill>
                <a:latin typeface="Courier New" pitchFamily="34" charset="0"/>
                <a:ea typeface="Courier New" pitchFamily="34" charset="-122"/>
                <a:cs typeface="Courier New" pitchFamily="34" charset="-120"/>
              </a:rPr>
              <a:t>Not every target was hit. Here's the honest breakdown.</a:t>
            </a:r>
            <a:endParaRPr lang="en-US" sz="1000" dirty="0"/>
          </a:p>
        </p:txBody>
      </p:sp>
      <p:sp>
        <p:nvSpPr>
          <p:cNvPr id="5" name="Shape 3"/>
          <p:cNvSpPr/>
          <p:nvPr/>
        </p:nvSpPr>
        <p:spPr>
          <a:xfrm>
            <a:off x="365760" y="1481328"/>
            <a:ext cx="4242816" cy="111556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6" name="Shape 4"/>
          <p:cNvSpPr/>
          <p:nvPr/>
        </p:nvSpPr>
        <p:spPr>
          <a:xfrm>
            <a:off x="365760" y="1481328"/>
            <a:ext cx="4242816" cy="256032"/>
          </a:xfrm>
          <a:prstGeom prst="rect">
            <a:avLst/>
          </a:prstGeom>
          <a:solidFill>
            <a:srgbClr val="CC3333"/>
          </a:solidFill>
          <a:ln w="12700">
            <a:solidFill>
              <a:srgbClr val="0D0D0D"/>
            </a:solidFill>
            <a:prstDash val="solid"/>
          </a:ln>
        </p:spPr>
      </p:sp>
      <p:sp>
        <p:nvSpPr>
          <p:cNvPr id="7" name="Text 5"/>
          <p:cNvSpPr/>
          <p:nvPr/>
        </p:nvSpPr>
        <p:spPr>
          <a:xfrm>
            <a:off x="457200" y="1481328"/>
            <a:ext cx="4059936" cy="256032"/>
          </a:xfrm>
          <a:prstGeom prst="rect">
            <a:avLst/>
          </a:prstGeom>
          <a:noFill/>
          <a:ln/>
        </p:spPr>
        <p:txBody>
          <a:bodyPr wrap="square" lIns="0" tIns="0" rIns="0" bIns="0" rtlCol="0" anchor="ctr"/>
          <a:lstStyle/>
          <a:p>
            <a:pPr indent="0" marL="0">
              <a:buNone/>
            </a:pPr>
            <a:r>
              <a:rPr lang="en-US" sz="800" b="1" dirty="0">
                <a:solidFill>
                  <a:srgbClr val="FFFFFF"/>
                </a:solidFill>
                <a:latin typeface="Courier New" pitchFamily="34" charset="0"/>
                <a:ea typeface="Courier New" pitchFamily="34" charset="-122"/>
                <a:cs typeface="Courier New" pitchFamily="34" charset="-120"/>
              </a:rPr>
              <a:t>0%  ·  $USD Flow Targets Missed</a:t>
            </a:r>
            <a:endParaRPr lang="en-US" sz="800" dirty="0"/>
          </a:p>
        </p:txBody>
      </p:sp>
      <p:sp>
        <p:nvSpPr>
          <p:cNvPr id="8" name="Text 6"/>
          <p:cNvSpPr/>
          <p:nvPr/>
        </p:nvSpPr>
        <p:spPr>
          <a:xfrm>
            <a:off x="457200" y="1773936"/>
            <a:ext cx="4059936" cy="411480"/>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Growth M1: $5k–10k · M2: $15k–25k · M3: $40k–60k+ all at 0%. GS volume hit 750K+ but USD conversion/tracking not implemented. Infrastructure focus took priority over fiat-denominated reporting.</a:t>
            </a:r>
            <a:endParaRPr lang="en-US" sz="800" dirty="0"/>
          </a:p>
        </p:txBody>
      </p:sp>
      <p:sp>
        <p:nvSpPr>
          <p:cNvPr id="9" name="Shape 7"/>
          <p:cNvSpPr/>
          <p:nvPr/>
        </p:nvSpPr>
        <p:spPr>
          <a:xfrm>
            <a:off x="457200" y="2221992"/>
            <a:ext cx="3877056" cy="41148"/>
          </a:xfrm>
          <a:prstGeom prst="rect">
            <a:avLst/>
          </a:prstGeom>
          <a:solidFill>
            <a:srgbClr val="CC3333"/>
          </a:solidFill>
          <a:ln w="12700">
            <a:solidFill>
              <a:srgbClr val="CC3333"/>
            </a:solidFill>
            <a:prstDash val="solid"/>
          </a:ln>
        </p:spPr>
      </p:sp>
      <p:sp>
        <p:nvSpPr>
          <p:cNvPr id="10" name="Text 8"/>
          <p:cNvSpPr/>
          <p:nvPr/>
        </p:nvSpPr>
        <p:spPr>
          <a:xfrm>
            <a:off x="457200" y="2286000"/>
            <a:ext cx="4059936" cy="256032"/>
          </a:xfrm>
          <a:prstGeom prst="rect">
            <a:avLst/>
          </a:prstGeom>
          <a:noFill/>
          <a:ln/>
        </p:spPr>
        <p:txBody>
          <a:bodyPr wrap="square" lIns="0" tIns="0" rIns="0" bIns="0" rtlCol="0" anchor="ctr"/>
          <a:lstStyle/>
          <a:p>
            <a:pPr indent="0" marL="0">
              <a:buNone/>
            </a:pPr>
            <a:r>
              <a:rPr lang="en-US" sz="750" b="1" dirty="0">
                <a:solidFill>
                  <a:srgbClr val="0D0D0D"/>
                </a:solidFill>
                <a:latin typeface="Courier New" pitchFamily="34" charset="0"/>
                <a:ea typeface="Courier New" pitchFamily="34" charset="-122"/>
                <a:cs typeface="Courier New" pitchFamily="34" charset="-120"/>
              </a:rPr>
              <a:t>→ Need an explicit USD tracking layer. GS volume doesn't auto-map to USD without oracle + accounting tooling.</a:t>
            </a:r>
            <a:endParaRPr lang="en-US" sz="750" dirty="0"/>
          </a:p>
        </p:txBody>
      </p:sp>
      <p:sp>
        <p:nvSpPr>
          <p:cNvPr id="11" name="Shape 9"/>
          <p:cNvSpPr/>
          <p:nvPr/>
        </p:nvSpPr>
        <p:spPr>
          <a:xfrm>
            <a:off x="4828032" y="1481328"/>
            <a:ext cx="4242816" cy="111556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12" name="Shape 10"/>
          <p:cNvSpPr/>
          <p:nvPr/>
        </p:nvSpPr>
        <p:spPr>
          <a:xfrm>
            <a:off x="4828032" y="1481328"/>
            <a:ext cx="4242816" cy="256032"/>
          </a:xfrm>
          <a:prstGeom prst="rect">
            <a:avLst/>
          </a:prstGeom>
          <a:solidFill>
            <a:srgbClr val="CC3333"/>
          </a:solidFill>
          <a:ln w="12700">
            <a:solidFill>
              <a:srgbClr val="0D0D0D"/>
            </a:solidFill>
            <a:prstDash val="solid"/>
          </a:ln>
        </p:spPr>
      </p:sp>
      <p:sp>
        <p:nvSpPr>
          <p:cNvPr id="13" name="Text 11"/>
          <p:cNvSpPr/>
          <p:nvPr/>
        </p:nvSpPr>
        <p:spPr>
          <a:xfrm>
            <a:off x="4919472" y="1481328"/>
            <a:ext cx="4059936" cy="256032"/>
          </a:xfrm>
          <a:prstGeom prst="rect">
            <a:avLst/>
          </a:prstGeom>
          <a:noFill/>
          <a:ln/>
        </p:spPr>
        <p:txBody>
          <a:bodyPr wrap="square" lIns="0" tIns="0" rIns="0" bIns="0" rtlCol="0" anchor="ctr"/>
          <a:lstStyle/>
          <a:p>
            <a:pPr indent="0" marL="0">
              <a:buNone/>
            </a:pPr>
            <a:r>
              <a:rPr lang="en-US" sz="800" b="1" dirty="0">
                <a:solidFill>
                  <a:srgbClr val="FFFFFF"/>
                </a:solidFill>
                <a:latin typeface="Courier New" pitchFamily="34" charset="0"/>
                <a:ea typeface="Courier New" pitchFamily="34" charset="-122"/>
                <a:cs typeface="Courier New" pitchFamily="34" charset="-120"/>
              </a:rPr>
              <a:t>0%  ·  Weekly Active G$ Earners</a:t>
            </a:r>
            <a:endParaRPr lang="en-US" sz="800" dirty="0"/>
          </a:p>
        </p:txBody>
      </p:sp>
      <p:sp>
        <p:nvSpPr>
          <p:cNvPr id="14" name="Text 12"/>
          <p:cNvSpPr/>
          <p:nvPr/>
        </p:nvSpPr>
        <p:spPr>
          <a:xfrm>
            <a:off x="4919472" y="1773936"/>
            <a:ext cx="4059936" cy="411480"/>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Targets: 60–120 (M2), 150–250 (M3). Redemption launched late in the season. Users can redeem but repeat weekly engagement not yet measured or gamified. Leaderboard is live but not driving weekly habit loops yet.</a:t>
            </a:r>
            <a:endParaRPr lang="en-US" sz="800" dirty="0"/>
          </a:p>
        </p:txBody>
      </p:sp>
      <p:sp>
        <p:nvSpPr>
          <p:cNvPr id="15" name="Shape 13"/>
          <p:cNvSpPr/>
          <p:nvPr/>
        </p:nvSpPr>
        <p:spPr>
          <a:xfrm>
            <a:off x="4919472" y="2221992"/>
            <a:ext cx="3877056" cy="41148"/>
          </a:xfrm>
          <a:prstGeom prst="rect">
            <a:avLst/>
          </a:prstGeom>
          <a:solidFill>
            <a:srgbClr val="CC3333"/>
          </a:solidFill>
          <a:ln w="12700">
            <a:solidFill>
              <a:srgbClr val="CC3333"/>
            </a:solidFill>
            <a:prstDash val="solid"/>
          </a:ln>
        </p:spPr>
      </p:sp>
      <p:sp>
        <p:nvSpPr>
          <p:cNvPr id="16" name="Text 14"/>
          <p:cNvSpPr/>
          <p:nvPr/>
        </p:nvSpPr>
        <p:spPr>
          <a:xfrm>
            <a:off x="4919472" y="2286000"/>
            <a:ext cx="4059936" cy="256032"/>
          </a:xfrm>
          <a:prstGeom prst="rect">
            <a:avLst/>
          </a:prstGeom>
          <a:noFill/>
          <a:ln/>
        </p:spPr>
        <p:txBody>
          <a:bodyPr wrap="square" lIns="0" tIns="0" rIns="0" bIns="0" rtlCol="0" anchor="ctr"/>
          <a:lstStyle/>
          <a:p>
            <a:pPr indent="0" marL="0">
              <a:buNone/>
            </a:pPr>
            <a:r>
              <a:rPr lang="en-US" sz="750" b="1" dirty="0">
                <a:solidFill>
                  <a:srgbClr val="0D0D0D"/>
                </a:solidFill>
                <a:latin typeface="Courier New" pitchFamily="34" charset="0"/>
                <a:ea typeface="Courier New" pitchFamily="34" charset="-122"/>
                <a:cs typeface="Courier New" pitchFamily="34" charset="-120"/>
              </a:rPr>
              <a:t>→ Redemption is live. The retention mechanic exists. Epoch 6 priority: weekly active earner tracking + referral loops.</a:t>
            </a:r>
            <a:endParaRPr lang="en-US" sz="750" dirty="0"/>
          </a:p>
        </p:txBody>
      </p:sp>
      <p:sp>
        <p:nvSpPr>
          <p:cNvPr id="17" name="Shape 15"/>
          <p:cNvSpPr/>
          <p:nvPr/>
        </p:nvSpPr>
        <p:spPr>
          <a:xfrm>
            <a:off x="365760" y="2706624"/>
            <a:ext cx="4242816" cy="111556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18" name="Shape 16"/>
          <p:cNvSpPr/>
          <p:nvPr/>
        </p:nvSpPr>
        <p:spPr>
          <a:xfrm>
            <a:off x="365760" y="2706624"/>
            <a:ext cx="4242816" cy="256032"/>
          </a:xfrm>
          <a:prstGeom prst="rect">
            <a:avLst/>
          </a:prstGeom>
          <a:solidFill>
            <a:srgbClr val="FFC400"/>
          </a:solidFill>
          <a:ln w="12700">
            <a:solidFill>
              <a:srgbClr val="0D0D0D"/>
            </a:solidFill>
            <a:prstDash val="solid"/>
          </a:ln>
        </p:spPr>
      </p:sp>
      <p:sp>
        <p:nvSpPr>
          <p:cNvPr id="19" name="Text 17"/>
          <p:cNvSpPr/>
          <p:nvPr/>
        </p:nvSpPr>
        <p:spPr>
          <a:xfrm>
            <a:off x="457200" y="2706624"/>
            <a:ext cx="4059936" cy="256032"/>
          </a:xfrm>
          <a:prstGeom prst="rect">
            <a:avLst/>
          </a:prstGeom>
          <a:noFill/>
          <a:ln/>
        </p:spPr>
        <p:txBody>
          <a:bodyPr wrap="square" lIns="0" tIns="0" rIns="0" bIns="0" rtlCol="0" anchor="ctr"/>
          <a:lstStyle/>
          <a:p>
            <a:pPr indent="0" marL="0">
              <a:buNone/>
            </a:pPr>
            <a:r>
              <a:rPr lang="en-US" sz="800" b="1" dirty="0">
                <a:solidFill>
                  <a:srgbClr val="0D0D0D"/>
                </a:solidFill>
                <a:latin typeface="Courier New" pitchFamily="34" charset="0"/>
                <a:ea typeface="Courier New" pitchFamily="34" charset="-122"/>
                <a:cs typeface="Courier New" pitchFamily="34" charset="-120"/>
              </a:rPr>
              <a:t>~50%  ·  Publisher Count Below Target</a:t>
            </a:r>
            <a:endParaRPr lang="en-US" sz="800" dirty="0"/>
          </a:p>
        </p:txBody>
      </p:sp>
      <p:sp>
        <p:nvSpPr>
          <p:cNvPr id="20" name="Text 18"/>
          <p:cNvSpPr/>
          <p:nvPr/>
        </p:nvSpPr>
        <p:spPr>
          <a:xfrm>
            <a:off x="457200" y="2999232"/>
            <a:ext cx="4059936" cy="411480"/>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Target: 8–12 active publishers (M3). Reality: 8. Ahead of M1/M2 pace but short of M3 ceiling. Manual onboarding was the bottleneck — not demand. Structured docs shipped late.</a:t>
            </a:r>
            <a:endParaRPr lang="en-US" sz="800" dirty="0"/>
          </a:p>
        </p:txBody>
      </p:sp>
      <p:sp>
        <p:nvSpPr>
          <p:cNvPr id="21" name="Shape 19"/>
          <p:cNvSpPr/>
          <p:nvPr/>
        </p:nvSpPr>
        <p:spPr>
          <a:xfrm>
            <a:off x="457200" y="3447288"/>
            <a:ext cx="3877056" cy="41148"/>
          </a:xfrm>
          <a:prstGeom prst="rect">
            <a:avLst/>
          </a:prstGeom>
          <a:solidFill>
            <a:srgbClr val="FFC400"/>
          </a:solidFill>
          <a:ln w="12700">
            <a:solidFill>
              <a:srgbClr val="FFC400"/>
            </a:solidFill>
            <a:prstDash val="solid"/>
          </a:ln>
        </p:spPr>
      </p:sp>
      <p:sp>
        <p:nvSpPr>
          <p:cNvPr id="22" name="Text 20"/>
          <p:cNvSpPr/>
          <p:nvPr/>
        </p:nvSpPr>
        <p:spPr>
          <a:xfrm>
            <a:off x="457200" y="3511296"/>
            <a:ext cx="4059936" cy="256032"/>
          </a:xfrm>
          <a:prstGeom prst="rect">
            <a:avLst/>
          </a:prstGeom>
          <a:noFill/>
          <a:ln/>
        </p:spPr>
        <p:txBody>
          <a:bodyPr wrap="square" lIns="0" tIns="0" rIns="0" bIns="0" rtlCol="0" anchor="ctr"/>
          <a:lstStyle/>
          <a:p>
            <a:pPr indent="0" marL="0">
              <a:buNone/>
            </a:pPr>
            <a:r>
              <a:rPr lang="en-US" sz="750" b="1" dirty="0">
                <a:solidFill>
                  <a:srgbClr val="0D0D0D"/>
                </a:solidFill>
                <a:latin typeface="Courier New" pitchFamily="34" charset="0"/>
                <a:ea typeface="Courier New" pitchFamily="34" charset="-122"/>
                <a:cs typeface="Courier New" pitchFamily="34" charset="-120"/>
              </a:rPr>
              <a:t>→ Demand exists. Onboarding was the constraint. Structured flow cuts activation time — scale this in Epoch 6.</a:t>
            </a:r>
            <a:endParaRPr lang="en-US" sz="750" dirty="0"/>
          </a:p>
        </p:txBody>
      </p:sp>
      <p:sp>
        <p:nvSpPr>
          <p:cNvPr id="23" name="Shape 21"/>
          <p:cNvSpPr/>
          <p:nvPr/>
        </p:nvSpPr>
        <p:spPr>
          <a:xfrm>
            <a:off x="4828032" y="2706624"/>
            <a:ext cx="4242816" cy="111556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24" name="Shape 22"/>
          <p:cNvSpPr/>
          <p:nvPr/>
        </p:nvSpPr>
        <p:spPr>
          <a:xfrm>
            <a:off x="4828032" y="2706624"/>
            <a:ext cx="4242816" cy="256032"/>
          </a:xfrm>
          <a:prstGeom prst="rect">
            <a:avLst/>
          </a:prstGeom>
          <a:solidFill>
            <a:srgbClr val="FFC400"/>
          </a:solidFill>
          <a:ln w="12700">
            <a:solidFill>
              <a:srgbClr val="0D0D0D"/>
            </a:solidFill>
            <a:prstDash val="solid"/>
          </a:ln>
        </p:spPr>
      </p:sp>
      <p:sp>
        <p:nvSpPr>
          <p:cNvPr id="25" name="Text 23"/>
          <p:cNvSpPr/>
          <p:nvPr/>
        </p:nvSpPr>
        <p:spPr>
          <a:xfrm>
            <a:off x="4919472" y="2706624"/>
            <a:ext cx="4059936" cy="256032"/>
          </a:xfrm>
          <a:prstGeom prst="rect">
            <a:avLst/>
          </a:prstGeom>
          <a:noFill/>
          <a:ln/>
        </p:spPr>
        <p:txBody>
          <a:bodyPr wrap="square" lIns="0" tIns="0" rIns="0" bIns="0" rtlCol="0" anchor="ctr"/>
          <a:lstStyle/>
          <a:p>
            <a:pPr indent="0" marL="0">
              <a:buNone/>
            </a:pPr>
            <a:r>
              <a:rPr lang="en-US" sz="800" b="1" dirty="0">
                <a:solidFill>
                  <a:srgbClr val="0D0D0D"/>
                </a:solidFill>
                <a:latin typeface="Courier New" pitchFamily="34" charset="0"/>
                <a:ea typeface="Courier New" pitchFamily="34" charset="-122"/>
                <a:cs typeface="Courier New" pitchFamily="34" charset="-120"/>
              </a:rPr>
              <a:t>0%  ·  15–25 SovSeas Projects as Publishers</a:t>
            </a:r>
            <a:endParaRPr lang="en-US" sz="800" dirty="0"/>
          </a:p>
        </p:txBody>
      </p:sp>
      <p:sp>
        <p:nvSpPr>
          <p:cNvPr id="26" name="Text 24"/>
          <p:cNvSpPr/>
          <p:nvPr/>
        </p:nvSpPr>
        <p:spPr>
          <a:xfrm>
            <a:off x="4919472" y="2999232"/>
            <a:ext cx="4059936" cy="411480"/>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Project-as-publisher functionality is 80% built (M3 D3). The feature exists but wasn't activated across 15–25 projects. SovSeas project pipeline not fully converted to ad monetisation.</a:t>
            </a:r>
            <a:endParaRPr lang="en-US" sz="800" dirty="0"/>
          </a:p>
        </p:txBody>
      </p:sp>
      <p:sp>
        <p:nvSpPr>
          <p:cNvPr id="27" name="Shape 25"/>
          <p:cNvSpPr/>
          <p:nvPr/>
        </p:nvSpPr>
        <p:spPr>
          <a:xfrm>
            <a:off x="4919472" y="3447288"/>
            <a:ext cx="3877056" cy="41148"/>
          </a:xfrm>
          <a:prstGeom prst="rect">
            <a:avLst/>
          </a:prstGeom>
          <a:solidFill>
            <a:srgbClr val="FFC400"/>
          </a:solidFill>
          <a:ln w="12700">
            <a:solidFill>
              <a:srgbClr val="FFC400"/>
            </a:solidFill>
            <a:prstDash val="solid"/>
          </a:ln>
        </p:spPr>
      </p:sp>
      <p:sp>
        <p:nvSpPr>
          <p:cNvPr id="28" name="Text 26"/>
          <p:cNvSpPr/>
          <p:nvPr/>
        </p:nvSpPr>
        <p:spPr>
          <a:xfrm>
            <a:off x="4919472" y="3511296"/>
            <a:ext cx="4059936" cy="256032"/>
          </a:xfrm>
          <a:prstGeom prst="rect">
            <a:avLst/>
          </a:prstGeom>
          <a:noFill/>
          <a:ln/>
        </p:spPr>
        <p:txBody>
          <a:bodyPr wrap="square" lIns="0" tIns="0" rIns="0" bIns="0" rtlCol="0" anchor="ctr"/>
          <a:lstStyle/>
          <a:p>
            <a:pPr indent="0" marL="0">
              <a:buNone/>
            </a:pPr>
            <a:r>
              <a:rPr lang="en-US" sz="750" b="1" dirty="0">
                <a:solidFill>
                  <a:srgbClr val="0D0D0D"/>
                </a:solidFill>
                <a:latin typeface="Courier New" pitchFamily="34" charset="0"/>
                <a:ea typeface="Courier New" pitchFamily="34" charset="-122"/>
                <a:cs typeface="Courier New" pitchFamily="34" charset="-120"/>
              </a:rPr>
              <a:t>→ The rails exist. This is a distribution/activation problem, not a build problem. Target for Epoch 6.</a:t>
            </a:r>
            <a:endParaRPr lang="en-US" sz="750" dirty="0"/>
          </a:p>
        </p:txBody>
      </p:sp>
      <p:sp>
        <p:nvSpPr>
          <p:cNvPr id="29" name="Shape 27"/>
          <p:cNvSpPr/>
          <p:nvPr/>
        </p:nvSpPr>
        <p:spPr>
          <a:xfrm>
            <a:off x="365760" y="3931920"/>
            <a:ext cx="4242816" cy="111556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30" name="Shape 28"/>
          <p:cNvSpPr/>
          <p:nvPr/>
        </p:nvSpPr>
        <p:spPr>
          <a:xfrm>
            <a:off x="365760" y="3931920"/>
            <a:ext cx="4242816" cy="256032"/>
          </a:xfrm>
          <a:prstGeom prst="rect">
            <a:avLst/>
          </a:prstGeom>
          <a:solidFill>
            <a:srgbClr val="FFC400"/>
          </a:solidFill>
          <a:ln w="12700">
            <a:solidFill>
              <a:srgbClr val="0D0D0D"/>
            </a:solidFill>
            <a:prstDash val="solid"/>
          </a:ln>
        </p:spPr>
      </p:sp>
      <p:sp>
        <p:nvSpPr>
          <p:cNvPr id="31" name="Text 29"/>
          <p:cNvSpPr/>
          <p:nvPr/>
        </p:nvSpPr>
        <p:spPr>
          <a:xfrm>
            <a:off x="457200" y="3931920"/>
            <a:ext cx="4059936" cy="256032"/>
          </a:xfrm>
          <a:prstGeom prst="rect">
            <a:avLst/>
          </a:prstGeom>
          <a:noFill/>
          <a:ln/>
        </p:spPr>
        <p:txBody>
          <a:bodyPr wrap="square" lIns="0" tIns="0" rIns="0" bIns="0" rtlCol="0" anchor="ctr"/>
          <a:lstStyle/>
          <a:p>
            <a:pPr indent="0" marL="0">
              <a:buNone/>
            </a:pPr>
            <a:r>
              <a:rPr lang="en-US" sz="800" b="1" dirty="0">
                <a:solidFill>
                  <a:srgbClr val="0D0D0D"/>
                </a:solidFill>
                <a:latin typeface="Courier New" pitchFamily="34" charset="0"/>
                <a:ea typeface="Courier New" pitchFamily="34" charset="-122"/>
                <a:cs typeface="Courier New" pitchFamily="34" charset="-120"/>
              </a:rPr>
              <a:t>20%  ·  8–15 Active SovSeas Projects (M2)</a:t>
            </a:r>
            <a:endParaRPr lang="en-US" sz="800" dirty="0"/>
          </a:p>
        </p:txBody>
      </p:sp>
      <p:sp>
        <p:nvSpPr>
          <p:cNvPr id="32" name="Text 30"/>
          <p:cNvSpPr/>
          <p:nvPr/>
        </p:nvSpPr>
        <p:spPr>
          <a:xfrm>
            <a:off x="457200" y="4224528"/>
            <a:ext cx="4059936" cy="411480"/>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Only ~20% of the 8–15 target met. Focus was on external publishers and campaigns. Internal SovSeas project adoption lagged. No dedicated activation push for internal projects this season.</a:t>
            </a:r>
            <a:endParaRPr lang="en-US" sz="800" dirty="0"/>
          </a:p>
        </p:txBody>
      </p:sp>
      <p:sp>
        <p:nvSpPr>
          <p:cNvPr id="33" name="Shape 31"/>
          <p:cNvSpPr/>
          <p:nvPr/>
        </p:nvSpPr>
        <p:spPr>
          <a:xfrm>
            <a:off x="457200" y="4672584"/>
            <a:ext cx="3877056" cy="41148"/>
          </a:xfrm>
          <a:prstGeom prst="rect">
            <a:avLst/>
          </a:prstGeom>
          <a:solidFill>
            <a:srgbClr val="FFC400"/>
          </a:solidFill>
          <a:ln w="12700">
            <a:solidFill>
              <a:srgbClr val="FFC400"/>
            </a:solidFill>
            <a:prstDash val="solid"/>
          </a:ln>
        </p:spPr>
      </p:sp>
      <p:sp>
        <p:nvSpPr>
          <p:cNvPr id="34" name="Text 32"/>
          <p:cNvSpPr/>
          <p:nvPr/>
        </p:nvSpPr>
        <p:spPr>
          <a:xfrm>
            <a:off x="457200" y="4736592"/>
            <a:ext cx="4059936" cy="256032"/>
          </a:xfrm>
          <a:prstGeom prst="rect">
            <a:avLst/>
          </a:prstGeom>
          <a:noFill/>
          <a:ln/>
        </p:spPr>
        <p:txBody>
          <a:bodyPr wrap="square" lIns="0" tIns="0" rIns="0" bIns="0" rtlCol="0" anchor="ctr"/>
          <a:lstStyle/>
          <a:p>
            <a:pPr indent="0" marL="0">
              <a:buNone/>
            </a:pPr>
            <a:r>
              <a:rPr lang="en-US" sz="750" b="1" dirty="0">
                <a:solidFill>
                  <a:srgbClr val="0D0D0D"/>
                </a:solidFill>
                <a:latin typeface="Courier New" pitchFamily="34" charset="0"/>
                <a:ea typeface="Courier New" pitchFamily="34" charset="-122"/>
                <a:cs typeface="Courier New" pitchFamily="34" charset="-120"/>
              </a:rPr>
              <a:t>→ Internal project adoption needs a dedicated campaign in Epoch 6. Low-hanging fruit — projects already trust the stack.</a:t>
            </a:r>
            <a:endParaRPr lang="en-US" sz="750" dirty="0"/>
          </a:p>
        </p:txBody>
      </p:sp>
      <p:sp>
        <p:nvSpPr>
          <p:cNvPr id="35" name="Shape 33"/>
          <p:cNvSpPr/>
          <p:nvPr/>
        </p:nvSpPr>
        <p:spPr>
          <a:xfrm>
            <a:off x="4828032" y="3931920"/>
            <a:ext cx="4242816" cy="1115568"/>
          </a:xfrm>
          <a:prstGeom prst="rect">
            <a:avLst/>
          </a:prstGeom>
          <a:solidFill>
            <a:srgbClr val="FFFFFF"/>
          </a:solidFill>
          <a:ln w="31750">
            <a:solidFill>
              <a:srgbClr val="0D0D0D"/>
            </a:solidFill>
            <a:prstDash val="solid"/>
          </a:ln>
          <a:effectLst>
            <a:outerShdw sx="100000" sy="100000" kx="0" ky="0" algn="bl" rotWithShape="0" blurRad="101600" dist="63500" dir="8100000">
              <a:srgbClr val="000000">
                <a:alpha val="100000"/>
              </a:srgbClr>
            </a:outerShdw>
          </a:effectLst>
        </p:spPr>
      </p:sp>
      <p:sp>
        <p:nvSpPr>
          <p:cNvPr id="36" name="Shape 34"/>
          <p:cNvSpPr/>
          <p:nvPr/>
        </p:nvSpPr>
        <p:spPr>
          <a:xfrm>
            <a:off x="4828032" y="3931920"/>
            <a:ext cx="4242816" cy="256032"/>
          </a:xfrm>
          <a:prstGeom prst="rect">
            <a:avLst/>
          </a:prstGeom>
          <a:solidFill>
            <a:srgbClr val="CC3333"/>
          </a:solidFill>
          <a:ln w="12700">
            <a:solidFill>
              <a:srgbClr val="0D0D0D"/>
            </a:solidFill>
            <a:prstDash val="solid"/>
          </a:ln>
        </p:spPr>
      </p:sp>
      <p:sp>
        <p:nvSpPr>
          <p:cNvPr id="37" name="Text 35"/>
          <p:cNvSpPr/>
          <p:nvPr/>
        </p:nvSpPr>
        <p:spPr>
          <a:xfrm>
            <a:off x="4919472" y="3931920"/>
            <a:ext cx="4059936" cy="256032"/>
          </a:xfrm>
          <a:prstGeom prst="rect">
            <a:avLst/>
          </a:prstGeom>
          <a:noFill/>
          <a:ln/>
        </p:spPr>
        <p:txBody>
          <a:bodyPr wrap="square" lIns="0" tIns="0" rIns="0" bIns="0" rtlCol="0" anchor="ctr"/>
          <a:lstStyle/>
          <a:p>
            <a:pPr indent="0" marL="0">
              <a:buNone/>
            </a:pPr>
            <a:r>
              <a:rPr lang="en-US" sz="800" b="1" dirty="0">
                <a:solidFill>
                  <a:srgbClr val="FFFFFF"/>
                </a:solidFill>
                <a:latin typeface="Courier New" pitchFamily="34" charset="0"/>
                <a:ea typeface="Courier New" pitchFamily="34" charset="-122"/>
                <a:cs typeface="Courier New" pitchFamily="34" charset="-120"/>
              </a:rPr>
              <a:t>NOT MET  ·  250–400 Unique Verified Wallets (M3)</a:t>
            </a:r>
            <a:endParaRPr lang="en-US" sz="800" dirty="0"/>
          </a:p>
        </p:txBody>
      </p:sp>
      <p:sp>
        <p:nvSpPr>
          <p:cNvPr id="38" name="Text 36"/>
          <p:cNvSpPr/>
          <p:nvPr/>
        </p:nvSpPr>
        <p:spPr>
          <a:xfrm>
            <a:off x="4919472" y="4224528"/>
            <a:ext cx="4059936" cy="411480"/>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Unique views hit 300+. But verified wallet count vs raw view count diverges significantly. Identity verification friction reduces conversion from view → verified earn. Full G$ claim requires wallet connection.</a:t>
            </a:r>
            <a:endParaRPr lang="en-US" sz="800" dirty="0"/>
          </a:p>
        </p:txBody>
      </p:sp>
      <p:sp>
        <p:nvSpPr>
          <p:cNvPr id="39" name="Shape 37"/>
          <p:cNvSpPr/>
          <p:nvPr/>
        </p:nvSpPr>
        <p:spPr>
          <a:xfrm>
            <a:off x="4919472" y="4672584"/>
            <a:ext cx="3877056" cy="41148"/>
          </a:xfrm>
          <a:prstGeom prst="rect">
            <a:avLst/>
          </a:prstGeom>
          <a:solidFill>
            <a:srgbClr val="CC3333"/>
          </a:solidFill>
          <a:ln w="12700">
            <a:solidFill>
              <a:srgbClr val="CC3333"/>
            </a:solidFill>
            <a:prstDash val="solid"/>
          </a:ln>
        </p:spPr>
      </p:sp>
      <p:sp>
        <p:nvSpPr>
          <p:cNvPr id="40" name="Text 38"/>
          <p:cNvSpPr/>
          <p:nvPr/>
        </p:nvSpPr>
        <p:spPr>
          <a:xfrm>
            <a:off x="4919472" y="4736592"/>
            <a:ext cx="4059936" cy="256032"/>
          </a:xfrm>
          <a:prstGeom prst="rect">
            <a:avLst/>
          </a:prstGeom>
          <a:noFill/>
          <a:ln/>
        </p:spPr>
        <p:txBody>
          <a:bodyPr wrap="square" lIns="0" tIns="0" rIns="0" bIns="0" rtlCol="0" anchor="ctr"/>
          <a:lstStyle/>
          <a:p>
            <a:pPr indent="0" marL="0">
              <a:buNone/>
            </a:pPr>
            <a:r>
              <a:rPr lang="en-US" sz="750" b="1" dirty="0">
                <a:solidFill>
                  <a:srgbClr val="0D0D0D"/>
                </a:solidFill>
                <a:latin typeface="Courier New" pitchFamily="34" charset="0"/>
                <a:ea typeface="Courier New" pitchFamily="34" charset="-122"/>
                <a:cs typeface="Courier New" pitchFamily="34" charset="-120"/>
              </a:rPr>
              <a:t>→ Need a lighter onboarding path. Reduce steps from first view to first G$ claim. This is the top UX priority.</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C400"/>
          </a:solidFill>
          <a:ln w="12700">
            <a:solidFill>
              <a:srgbClr val="FFC400"/>
            </a:solidFill>
            <a:prstDash val="solid"/>
          </a:ln>
        </p:spPr>
      </p:sp>
      <p:sp>
        <p:nvSpPr>
          <p:cNvPr id="3" name="Text 1"/>
          <p:cNvSpPr/>
          <p:nvPr/>
        </p:nvSpPr>
        <p:spPr>
          <a:xfrm>
            <a:off x="384048" y="274320"/>
            <a:ext cx="8229600" cy="201168"/>
          </a:xfrm>
          <a:prstGeom prst="rect">
            <a:avLst/>
          </a:prstGeom>
          <a:noFill/>
          <a:ln/>
        </p:spPr>
        <p:txBody>
          <a:bodyPr wrap="square" lIns="0" tIns="0" rIns="0" bIns="0" rtlCol="0" anchor="ctr"/>
          <a:lstStyle/>
          <a:p>
            <a:pPr indent="0" marL="0">
              <a:buNone/>
            </a:pPr>
            <a:r>
              <a:rPr lang="en-US" sz="750" b="1" spc="200" kern="0" dirty="0">
                <a:solidFill>
                  <a:srgbClr val="FFC400"/>
                </a:solidFill>
                <a:latin typeface="Courier New" pitchFamily="34" charset="0"/>
                <a:ea typeface="Courier New" pitchFamily="34" charset="-122"/>
                <a:cs typeface="Courier New" pitchFamily="34" charset="-120"/>
              </a:rPr>
              <a:t>SEASON 3  ·  FINAL ARC  ·  TODAY</a:t>
            </a:r>
            <a:endParaRPr lang="en-US" sz="750" dirty="0"/>
          </a:p>
        </p:txBody>
      </p:sp>
      <p:sp>
        <p:nvSpPr>
          <p:cNvPr id="4" name="Text 2"/>
          <p:cNvSpPr/>
          <p:nvPr/>
        </p:nvSpPr>
        <p:spPr>
          <a:xfrm>
            <a:off x="384048" y="548640"/>
            <a:ext cx="8229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WE PROVED THE</a:t>
            </a:r>
            <a:endParaRPr lang="en-US" sz="4800" dirty="0"/>
          </a:p>
          <a:p>
            <a:pPr indent="0" marL="0">
              <a:buNone/>
            </a:pPr>
            <a:r>
              <a:rPr lang="en-US" sz="4800" b="1" dirty="0">
                <a:solidFill>
                  <a:srgbClr val="FFFFFF"/>
                </a:solidFill>
                <a:latin typeface="Arial Black" pitchFamily="34" charset="0"/>
                <a:ea typeface="Arial Black" pitchFamily="34" charset="-122"/>
                <a:cs typeface="Arial Black" pitchFamily="34" charset="-120"/>
              </a:rPr>
              <a:t>FLYWHEEL WORKS.</a:t>
            </a:r>
            <a:endParaRPr lang="en-US" sz="4800" dirty="0"/>
          </a:p>
        </p:txBody>
      </p:sp>
      <p:sp>
        <p:nvSpPr>
          <p:cNvPr id="5" name="Shape 3"/>
          <p:cNvSpPr/>
          <p:nvPr/>
        </p:nvSpPr>
        <p:spPr>
          <a:xfrm>
            <a:off x="384048" y="1920240"/>
            <a:ext cx="8394192" cy="41148"/>
          </a:xfrm>
          <a:prstGeom prst="rect">
            <a:avLst/>
          </a:prstGeom>
          <a:solidFill>
            <a:srgbClr val="FFC400"/>
          </a:solidFill>
          <a:ln w="12700">
            <a:solidFill>
              <a:srgbClr val="FFC400"/>
            </a:solidFill>
            <a:prstDash val="solid"/>
          </a:ln>
        </p:spPr>
      </p:sp>
      <p:sp>
        <p:nvSpPr>
          <p:cNvPr id="6" name="Shape 4"/>
          <p:cNvSpPr/>
          <p:nvPr/>
        </p:nvSpPr>
        <p:spPr>
          <a:xfrm>
            <a:off x="384048" y="2011680"/>
            <a:ext cx="2651760" cy="1417320"/>
          </a:xfrm>
          <a:prstGeom prst="rect">
            <a:avLst/>
          </a:prstGeom>
          <a:solidFill>
            <a:srgbClr val="1A1A1A"/>
          </a:solidFill>
          <a:ln w="31750">
            <a:solidFill>
              <a:srgbClr val="FFC400"/>
            </a:solidFill>
            <a:prstDash val="solid"/>
          </a:ln>
          <a:effectLst>
            <a:outerShdw sx="100000" sy="100000" kx="0" ky="0" algn="bl" rotWithShape="0" blurRad="101600" dist="63500" dir="8100000">
              <a:srgbClr val="000000">
                <a:alpha val="100000"/>
              </a:srgbClr>
            </a:outerShdw>
          </a:effectLst>
        </p:spPr>
      </p:sp>
      <p:sp>
        <p:nvSpPr>
          <p:cNvPr id="7" name="Shape 5"/>
          <p:cNvSpPr/>
          <p:nvPr/>
        </p:nvSpPr>
        <p:spPr>
          <a:xfrm>
            <a:off x="384048" y="2011680"/>
            <a:ext cx="2651760" cy="274320"/>
          </a:xfrm>
          <a:prstGeom prst="rect">
            <a:avLst/>
          </a:prstGeom>
          <a:solidFill>
            <a:srgbClr val="FFC400"/>
          </a:solidFill>
          <a:ln w="12700">
            <a:solidFill>
              <a:srgbClr val="000000"/>
            </a:solidFill>
            <a:prstDash val="solid"/>
          </a:ln>
        </p:spPr>
      </p:sp>
      <p:sp>
        <p:nvSpPr>
          <p:cNvPr id="8" name="Text 6"/>
          <p:cNvSpPr/>
          <p:nvPr/>
        </p:nvSpPr>
        <p:spPr>
          <a:xfrm>
            <a:off x="384048" y="2011680"/>
            <a:ext cx="2651760" cy="274320"/>
          </a:xfrm>
          <a:prstGeom prst="rect">
            <a:avLst/>
          </a:prstGeom>
          <a:noFill/>
          <a:ln/>
        </p:spPr>
        <p:txBody>
          <a:bodyPr wrap="square" lIns="0" tIns="0" rIns="0" bIns="0" rtlCol="0" anchor="ctr"/>
          <a:lstStyle/>
          <a:p>
            <a:pPr algn="ctr" indent="0" marL="0">
              <a:buNone/>
            </a:pPr>
            <a:r>
              <a:rPr lang="en-US" sz="1000" b="1" dirty="0">
                <a:solidFill>
                  <a:srgbClr val="0D0D0D"/>
                </a:solidFill>
                <a:latin typeface="Courier New" pitchFamily="34" charset="0"/>
                <a:ea typeface="Courier New" pitchFamily="34" charset="-122"/>
                <a:cs typeface="Courier New" pitchFamily="34" charset="-120"/>
              </a:rPr>
              <a:t>01</a:t>
            </a:r>
            <a:endParaRPr lang="en-US" sz="1000" dirty="0"/>
          </a:p>
        </p:txBody>
      </p:sp>
      <p:sp>
        <p:nvSpPr>
          <p:cNvPr id="9" name="Text 7"/>
          <p:cNvSpPr/>
          <p:nvPr/>
        </p:nvSpPr>
        <p:spPr>
          <a:xfrm>
            <a:off x="493776" y="2359152"/>
            <a:ext cx="2432304"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ON-CHAIN REDEMPTION</a:t>
            </a:r>
            <a:endParaRPr lang="en-US" sz="1100" dirty="0"/>
          </a:p>
        </p:txBody>
      </p:sp>
      <p:sp>
        <p:nvSpPr>
          <p:cNvPr id="10" name="Text 8"/>
          <p:cNvSpPr/>
          <p:nvPr/>
        </p:nvSpPr>
        <p:spPr>
          <a:xfrm>
            <a:off x="493776" y="2743200"/>
            <a:ext cx="2432304" cy="640080"/>
          </a:xfrm>
          <a:prstGeom prst="rect">
            <a:avLst/>
          </a:prstGeom>
          <a:noFill/>
          <a:ln/>
        </p:spPr>
        <p:txBody>
          <a:bodyPr wrap="square" lIns="0" tIns="0" rIns="0" bIns="0" rtlCol="0" anchor="ctr"/>
          <a:lstStyle/>
          <a:p>
            <a:pPr indent="0" marL="0">
              <a:buNone/>
            </a:pPr>
            <a:r>
              <a:rPr lang="en-US" sz="850" dirty="0">
                <a:solidFill>
                  <a:srgbClr val="888888"/>
                </a:solidFill>
                <a:latin typeface="Courier New" pitchFamily="34" charset="0"/>
                <a:ea typeface="Courier New" pitchFamily="34" charset="-122"/>
                <a:cs typeface="Courier New" pitchFamily="34" charset="-120"/>
              </a:rPr>
              <a:t>104K+ GS redeemed. Self-custody. Verifiable. The loop from ad view to G$ in wallet is proven and live.</a:t>
            </a:r>
            <a:endParaRPr lang="en-US" sz="850" dirty="0"/>
          </a:p>
        </p:txBody>
      </p:sp>
      <p:sp>
        <p:nvSpPr>
          <p:cNvPr id="11" name="Shape 9"/>
          <p:cNvSpPr/>
          <p:nvPr/>
        </p:nvSpPr>
        <p:spPr>
          <a:xfrm>
            <a:off x="3218688" y="2011680"/>
            <a:ext cx="2651760" cy="1417320"/>
          </a:xfrm>
          <a:prstGeom prst="rect">
            <a:avLst/>
          </a:prstGeom>
          <a:solidFill>
            <a:srgbClr val="1A1A1A"/>
          </a:solidFill>
          <a:ln w="31750">
            <a:solidFill>
              <a:srgbClr val="00B8C4"/>
            </a:solidFill>
            <a:prstDash val="solid"/>
          </a:ln>
          <a:effectLst>
            <a:outerShdw sx="100000" sy="100000" kx="0" ky="0" algn="bl" rotWithShape="0" blurRad="101600" dist="63500" dir="8100000">
              <a:srgbClr val="000000">
                <a:alpha val="100000"/>
              </a:srgbClr>
            </a:outerShdw>
          </a:effectLst>
        </p:spPr>
      </p:sp>
      <p:sp>
        <p:nvSpPr>
          <p:cNvPr id="12" name="Shape 10"/>
          <p:cNvSpPr/>
          <p:nvPr/>
        </p:nvSpPr>
        <p:spPr>
          <a:xfrm>
            <a:off x="3218688" y="2011680"/>
            <a:ext cx="2651760" cy="274320"/>
          </a:xfrm>
          <a:prstGeom prst="rect">
            <a:avLst/>
          </a:prstGeom>
          <a:solidFill>
            <a:srgbClr val="00B8C4"/>
          </a:solidFill>
          <a:ln w="12700">
            <a:solidFill>
              <a:srgbClr val="000000"/>
            </a:solidFill>
            <a:prstDash val="solid"/>
          </a:ln>
        </p:spPr>
      </p:sp>
      <p:sp>
        <p:nvSpPr>
          <p:cNvPr id="13" name="Text 11"/>
          <p:cNvSpPr/>
          <p:nvPr/>
        </p:nvSpPr>
        <p:spPr>
          <a:xfrm>
            <a:off x="3218688" y="2011680"/>
            <a:ext cx="2651760" cy="274320"/>
          </a:xfrm>
          <a:prstGeom prst="rect">
            <a:avLst/>
          </a:prstGeom>
          <a:noFill/>
          <a:ln/>
        </p:spPr>
        <p:txBody>
          <a:bodyPr wrap="square" lIns="0" tIns="0" rIns="0" bIns="0" rtlCol="0" anchor="ctr"/>
          <a:lstStyle/>
          <a:p>
            <a:pPr algn="ctr" indent="0" marL="0">
              <a:buNone/>
            </a:pPr>
            <a:r>
              <a:rPr lang="en-US" sz="1000" b="1" dirty="0">
                <a:solidFill>
                  <a:srgbClr val="0D0D0D"/>
                </a:solidFill>
                <a:latin typeface="Courier New" pitchFamily="34" charset="0"/>
                <a:ea typeface="Courier New" pitchFamily="34" charset="-122"/>
                <a:cs typeface="Courier New" pitchFamily="34" charset="-120"/>
              </a:rPr>
              <a:t>02</a:t>
            </a:r>
            <a:endParaRPr lang="en-US" sz="1000" dirty="0"/>
          </a:p>
        </p:txBody>
      </p:sp>
      <p:sp>
        <p:nvSpPr>
          <p:cNvPr id="14" name="Text 12"/>
          <p:cNvSpPr/>
          <p:nvPr/>
        </p:nvSpPr>
        <p:spPr>
          <a:xfrm>
            <a:off x="3328416" y="2359152"/>
            <a:ext cx="2432304"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ORGANIC DEMAND</a:t>
            </a:r>
            <a:endParaRPr lang="en-US" sz="1100" dirty="0"/>
          </a:p>
        </p:txBody>
      </p:sp>
      <p:sp>
        <p:nvSpPr>
          <p:cNvPr id="15" name="Text 13"/>
          <p:cNvSpPr/>
          <p:nvPr/>
        </p:nvSpPr>
        <p:spPr>
          <a:xfrm>
            <a:off x="3328416" y="2743200"/>
            <a:ext cx="2432304" cy="640080"/>
          </a:xfrm>
          <a:prstGeom prst="rect">
            <a:avLst/>
          </a:prstGeom>
          <a:noFill/>
          <a:ln/>
        </p:spPr>
        <p:txBody>
          <a:bodyPr wrap="square" lIns="0" tIns="0" rIns="0" bIns="0" rtlCol="0" anchor="ctr"/>
          <a:lstStyle/>
          <a:p>
            <a:pPr indent="0" marL="0">
              <a:buNone/>
            </a:pPr>
            <a:r>
              <a:rPr lang="en-US" sz="850" dirty="0">
                <a:solidFill>
                  <a:srgbClr val="888888"/>
                </a:solidFill>
                <a:latin typeface="Courier New" pitchFamily="34" charset="0"/>
                <a:ea typeface="Courier New" pitchFamily="34" charset="-122"/>
                <a:cs typeface="Courier New" pitchFamily="34" charset="-120"/>
              </a:rPr>
              <a:t>12 campaigns doubling every epoch without paid acquisition. Advertisers come back. Publishers see engagement.</a:t>
            </a:r>
            <a:endParaRPr lang="en-US" sz="850" dirty="0"/>
          </a:p>
        </p:txBody>
      </p:sp>
      <p:sp>
        <p:nvSpPr>
          <p:cNvPr id="16" name="Shape 14"/>
          <p:cNvSpPr/>
          <p:nvPr/>
        </p:nvSpPr>
        <p:spPr>
          <a:xfrm>
            <a:off x="6053328" y="2011680"/>
            <a:ext cx="2651760" cy="1417320"/>
          </a:xfrm>
          <a:prstGeom prst="rect">
            <a:avLst/>
          </a:prstGeom>
          <a:solidFill>
            <a:srgbClr val="1A1A1A"/>
          </a:solidFill>
          <a:ln w="31750">
            <a:solidFill>
              <a:srgbClr val="333333"/>
            </a:solidFill>
            <a:prstDash val="solid"/>
          </a:ln>
          <a:effectLst>
            <a:outerShdw sx="100000" sy="100000" kx="0" ky="0" algn="bl" rotWithShape="0" blurRad="101600" dist="63500" dir="8100000">
              <a:srgbClr val="000000">
                <a:alpha val="100000"/>
              </a:srgbClr>
            </a:outerShdw>
          </a:effectLst>
        </p:spPr>
      </p:sp>
      <p:sp>
        <p:nvSpPr>
          <p:cNvPr id="17" name="Shape 15"/>
          <p:cNvSpPr/>
          <p:nvPr/>
        </p:nvSpPr>
        <p:spPr>
          <a:xfrm>
            <a:off x="6053328" y="2011680"/>
            <a:ext cx="2651760" cy="274320"/>
          </a:xfrm>
          <a:prstGeom prst="rect">
            <a:avLst/>
          </a:prstGeom>
          <a:solidFill>
            <a:srgbClr val="333333"/>
          </a:solidFill>
          <a:ln w="12700">
            <a:solidFill>
              <a:srgbClr val="000000"/>
            </a:solidFill>
            <a:prstDash val="solid"/>
          </a:ln>
        </p:spPr>
      </p:sp>
      <p:sp>
        <p:nvSpPr>
          <p:cNvPr id="18" name="Text 16"/>
          <p:cNvSpPr/>
          <p:nvPr/>
        </p:nvSpPr>
        <p:spPr>
          <a:xfrm>
            <a:off x="6053328" y="2011680"/>
            <a:ext cx="2651760" cy="274320"/>
          </a:xfrm>
          <a:prstGeom prst="rect">
            <a:avLst/>
          </a:prstGeom>
          <a:noFill/>
          <a:ln/>
        </p:spPr>
        <p:txBody>
          <a:bodyPr wrap="square" lIns="0" tIns="0" rIns="0" bIns="0" rtlCol="0" anchor="ctr"/>
          <a:lstStyle/>
          <a:p>
            <a:pPr algn="ctr" indent="0" marL="0">
              <a:buNone/>
            </a:pPr>
            <a:r>
              <a:rPr lang="en-US" sz="1000" b="1" dirty="0">
                <a:solidFill>
                  <a:srgbClr val="888888"/>
                </a:solidFill>
                <a:latin typeface="Courier New" pitchFamily="34" charset="0"/>
                <a:ea typeface="Courier New" pitchFamily="34" charset="-122"/>
                <a:cs typeface="Courier New" pitchFamily="34" charset="-120"/>
              </a:rPr>
              <a:t>03</a:t>
            </a:r>
            <a:endParaRPr lang="en-US" sz="1000" dirty="0"/>
          </a:p>
        </p:txBody>
      </p:sp>
      <p:sp>
        <p:nvSpPr>
          <p:cNvPr id="19" name="Text 17"/>
          <p:cNvSpPr/>
          <p:nvPr/>
        </p:nvSpPr>
        <p:spPr>
          <a:xfrm>
            <a:off x="6163056" y="2359152"/>
            <a:ext cx="2432304"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INFRASTRUCTURE REAL</a:t>
            </a:r>
            <a:endParaRPr lang="en-US" sz="1100" dirty="0"/>
          </a:p>
        </p:txBody>
      </p:sp>
      <p:sp>
        <p:nvSpPr>
          <p:cNvPr id="20" name="Text 18"/>
          <p:cNvSpPr/>
          <p:nvPr/>
        </p:nvSpPr>
        <p:spPr>
          <a:xfrm>
            <a:off x="6163056" y="2743200"/>
            <a:ext cx="2432304" cy="640080"/>
          </a:xfrm>
          <a:prstGeom prst="rect">
            <a:avLst/>
          </a:prstGeom>
          <a:noFill/>
          <a:ln/>
        </p:spPr>
        <p:txBody>
          <a:bodyPr wrap="square" lIns="0" tIns="0" rIns="0" bIns="0" rtlCol="0" anchor="ctr"/>
          <a:lstStyle/>
          <a:p>
            <a:pPr indent="0" marL="0">
              <a:buNone/>
            </a:pPr>
            <a:r>
              <a:rPr lang="en-US" sz="850" dirty="0">
                <a:solidFill>
                  <a:srgbClr val="888888"/>
                </a:solidFill>
                <a:latin typeface="Courier New" pitchFamily="34" charset="0"/>
                <a:ea typeface="Courier New" pitchFamily="34" charset="-122"/>
                <a:cs typeface="Courier New" pitchFamily="34" charset="-120"/>
              </a:rPr>
              <a:t>SDK v2, render verification, token oracle, publisher rails, engagement rewards contract — all production-live on Celo.</a:t>
            </a:r>
            <a:endParaRPr lang="en-US" sz="850" dirty="0"/>
          </a:p>
        </p:txBody>
      </p:sp>
      <p:sp>
        <p:nvSpPr>
          <p:cNvPr id="21" name="Shape 19"/>
          <p:cNvSpPr/>
          <p:nvPr/>
        </p:nvSpPr>
        <p:spPr>
          <a:xfrm>
            <a:off x="384048" y="3547872"/>
            <a:ext cx="8394192" cy="41148"/>
          </a:xfrm>
          <a:prstGeom prst="rect">
            <a:avLst/>
          </a:prstGeom>
          <a:solidFill>
            <a:srgbClr val="333333"/>
          </a:solidFill>
          <a:ln w="12700">
            <a:solidFill>
              <a:srgbClr val="333333"/>
            </a:solidFill>
            <a:prstDash val="solid"/>
          </a:ln>
        </p:spPr>
      </p:sp>
      <p:sp>
        <p:nvSpPr>
          <p:cNvPr id="22" name="Text 20"/>
          <p:cNvSpPr/>
          <p:nvPr/>
        </p:nvSpPr>
        <p:spPr>
          <a:xfrm>
            <a:off x="384048" y="3639312"/>
            <a:ext cx="1828800" cy="201168"/>
          </a:xfrm>
          <a:prstGeom prst="rect">
            <a:avLst/>
          </a:prstGeom>
          <a:noFill/>
          <a:ln/>
        </p:spPr>
        <p:txBody>
          <a:bodyPr wrap="square" lIns="0" tIns="0" rIns="0" bIns="0" rtlCol="0" anchor="ctr"/>
          <a:lstStyle/>
          <a:p>
            <a:pPr indent="0" marL="0">
              <a:buNone/>
            </a:pPr>
            <a:r>
              <a:rPr lang="en-US" sz="800" b="1" spc="200" kern="0" dirty="0">
                <a:solidFill>
                  <a:srgbClr val="FFC400"/>
                </a:solidFill>
                <a:latin typeface="Courier New" pitchFamily="34" charset="0"/>
                <a:ea typeface="Courier New" pitchFamily="34" charset="-122"/>
                <a:cs typeface="Courier New" pitchFamily="34" charset="-120"/>
              </a:rPr>
              <a:t>WHAT'S NEXT</a:t>
            </a:r>
            <a:endParaRPr lang="en-US" sz="800" dirty="0"/>
          </a:p>
        </p:txBody>
      </p:sp>
      <p:sp>
        <p:nvSpPr>
          <p:cNvPr id="23" name="Shape 21"/>
          <p:cNvSpPr/>
          <p:nvPr/>
        </p:nvSpPr>
        <p:spPr>
          <a:xfrm>
            <a:off x="384048" y="3886200"/>
            <a:ext cx="2029968" cy="1005840"/>
          </a:xfrm>
          <a:prstGeom prst="rect">
            <a:avLst/>
          </a:prstGeom>
          <a:solidFill>
            <a:srgbClr val="1A1A1A"/>
          </a:solidFill>
          <a:ln w="19050">
            <a:solidFill>
              <a:srgbClr val="FFC400"/>
            </a:solidFill>
            <a:prstDash val="solid"/>
          </a:ln>
        </p:spPr>
      </p:sp>
      <p:sp>
        <p:nvSpPr>
          <p:cNvPr id="24" name="Shape 22"/>
          <p:cNvSpPr/>
          <p:nvPr/>
        </p:nvSpPr>
        <p:spPr>
          <a:xfrm>
            <a:off x="384048" y="3886200"/>
            <a:ext cx="2029968" cy="237744"/>
          </a:xfrm>
          <a:prstGeom prst="rect">
            <a:avLst/>
          </a:prstGeom>
          <a:solidFill>
            <a:srgbClr val="FFC400"/>
          </a:solidFill>
          <a:ln w="12700">
            <a:solidFill>
              <a:srgbClr val="FFC400"/>
            </a:solidFill>
            <a:prstDash val="solid"/>
          </a:ln>
        </p:spPr>
      </p:sp>
      <p:sp>
        <p:nvSpPr>
          <p:cNvPr id="25" name="Text 23"/>
          <p:cNvSpPr/>
          <p:nvPr/>
        </p:nvSpPr>
        <p:spPr>
          <a:xfrm>
            <a:off x="384048" y="3886200"/>
            <a:ext cx="2029968" cy="237744"/>
          </a:xfrm>
          <a:prstGeom prst="rect">
            <a:avLst/>
          </a:prstGeom>
          <a:noFill/>
          <a:ln/>
        </p:spPr>
        <p:txBody>
          <a:bodyPr wrap="square" lIns="0" tIns="0" rIns="0" bIns="0" rtlCol="0" anchor="ctr"/>
          <a:lstStyle/>
          <a:p>
            <a:pPr algn="ctr" indent="0" marL="0">
              <a:buNone/>
            </a:pPr>
            <a:r>
              <a:rPr lang="en-US" sz="650" b="1" spc="50" kern="0" dirty="0">
                <a:solidFill>
                  <a:srgbClr val="0D0D0D"/>
                </a:solidFill>
                <a:latin typeface="Courier New" pitchFamily="34" charset="0"/>
                <a:ea typeface="Courier New" pitchFamily="34" charset="-122"/>
                <a:cs typeface="Courier New" pitchFamily="34" charset="-120"/>
              </a:rPr>
              <a:t>MORE ADVERTISERS</a:t>
            </a:r>
            <a:endParaRPr lang="en-US" sz="650" dirty="0"/>
          </a:p>
        </p:txBody>
      </p:sp>
      <p:sp>
        <p:nvSpPr>
          <p:cNvPr id="26" name="Text 24"/>
          <p:cNvSpPr/>
          <p:nvPr/>
        </p:nvSpPr>
        <p:spPr>
          <a:xfrm>
            <a:off x="475488" y="4169664"/>
            <a:ext cx="1847088" cy="658368"/>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Broaden beyond web3-native. Measurable ROAS.</a:t>
            </a:r>
            <a:endParaRPr lang="en-US" sz="800" dirty="0"/>
          </a:p>
        </p:txBody>
      </p:sp>
      <p:sp>
        <p:nvSpPr>
          <p:cNvPr id="27" name="Shape 25"/>
          <p:cNvSpPr/>
          <p:nvPr/>
        </p:nvSpPr>
        <p:spPr>
          <a:xfrm>
            <a:off x="2596896" y="3886200"/>
            <a:ext cx="2029968" cy="1005840"/>
          </a:xfrm>
          <a:prstGeom prst="rect">
            <a:avLst/>
          </a:prstGeom>
          <a:solidFill>
            <a:srgbClr val="1A1A1A"/>
          </a:solidFill>
          <a:ln w="19050">
            <a:solidFill>
              <a:srgbClr val="FFC400"/>
            </a:solidFill>
            <a:prstDash val="solid"/>
          </a:ln>
        </p:spPr>
      </p:sp>
      <p:sp>
        <p:nvSpPr>
          <p:cNvPr id="28" name="Shape 26"/>
          <p:cNvSpPr/>
          <p:nvPr/>
        </p:nvSpPr>
        <p:spPr>
          <a:xfrm>
            <a:off x="2596896" y="3886200"/>
            <a:ext cx="2029968" cy="237744"/>
          </a:xfrm>
          <a:prstGeom prst="rect">
            <a:avLst/>
          </a:prstGeom>
          <a:solidFill>
            <a:srgbClr val="FFC400"/>
          </a:solidFill>
          <a:ln w="12700">
            <a:solidFill>
              <a:srgbClr val="FFC400"/>
            </a:solidFill>
            <a:prstDash val="solid"/>
          </a:ln>
        </p:spPr>
      </p:sp>
      <p:sp>
        <p:nvSpPr>
          <p:cNvPr id="29" name="Text 27"/>
          <p:cNvSpPr/>
          <p:nvPr/>
        </p:nvSpPr>
        <p:spPr>
          <a:xfrm>
            <a:off x="2596896" y="3886200"/>
            <a:ext cx="2029968" cy="237744"/>
          </a:xfrm>
          <a:prstGeom prst="rect">
            <a:avLst/>
          </a:prstGeom>
          <a:noFill/>
          <a:ln/>
        </p:spPr>
        <p:txBody>
          <a:bodyPr wrap="square" lIns="0" tIns="0" rIns="0" bIns="0" rtlCol="0" anchor="ctr"/>
          <a:lstStyle/>
          <a:p>
            <a:pPr algn="ctr" indent="0" marL="0">
              <a:buNone/>
            </a:pPr>
            <a:r>
              <a:rPr lang="en-US" sz="650" b="1" spc="50" kern="0" dirty="0">
                <a:solidFill>
                  <a:srgbClr val="0D0D0D"/>
                </a:solidFill>
                <a:latin typeface="Courier New" pitchFamily="34" charset="0"/>
                <a:ea typeface="Courier New" pitchFamily="34" charset="-122"/>
                <a:cs typeface="Courier New" pitchFamily="34" charset="-120"/>
              </a:rPr>
              <a:t>MORE PUBLISHERS</a:t>
            </a:r>
            <a:endParaRPr lang="en-US" sz="650" dirty="0"/>
          </a:p>
        </p:txBody>
      </p:sp>
      <p:sp>
        <p:nvSpPr>
          <p:cNvPr id="30" name="Text 28"/>
          <p:cNvSpPr/>
          <p:nvPr/>
        </p:nvSpPr>
        <p:spPr>
          <a:xfrm>
            <a:off x="2688336" y="4169664"/>
            <a:ext cx="1847088" cy="658368"/>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12+ sites. Structured onboarding at scale.</a:t>
            </a:r>
            <a:endParaRPr lang="en-US" sz="800" dirty="0"/>
          </a:p>
        </p:txBody>
      </p:sp>
      <p:sp>
        <p:nvSpPr>
          <p:cNvPr id="31" name="Shape 29"/>
          <p:cNvSpPr/>
          <p:nvPr/>
        </p:nvSpPr>
        <p:spPr>
          <a:xfrm>
            <a:off x="4809744" y="3886200"/>
            <a:ext cx="2029968" cy="1005840"/>
          </a:xfrm>
          <a:prstGeom prst="rect">
            <a:avLst/>
          </a:prstGeom>
          <a:solidFill>
            <a:srgbClr val="1A1A1A"/>
          </a:solidFill>
          <a:ln w="19050">
            <a:solidFill>
              <a:srgbClr val="FFC400"/>
            </a:solidFill>
            <a:prstDash val="solid"/>
          </a:ln>
        </p:spPr>
      </p:sp>
      <p:sp>
        <p:nvSpPr>
          <p:cNvPr id="32" name="Shape 30"/>
          <p:cNvSpPr/>
          <p:nvPr/>
        </p:nvSpPr>
        <p:spPr>
          <a:xfrm>
            <a:off x="4809744" y="3886200"/>
            <a:ext cx="2029968" cy="237744"/>
          </a:xfrm>
          <a:prstGeom prst="rect">
            <a:avLst/>
          </a:prstGeom>
          <a:solidFill>
            <a:srgbClr val="FFC400"/>
          </a:solidFill>
          <a:ln w="12700">
            <a:solidFill>
              <a:srgbClr val="FFC400"/>
            </a:solidFill>
            <a:prstDash val="solid"/>
          </a:ln>
        </p:spPr>
      </p:sp>
      <p:sp>
        <p:nvSpPr>
          <p:cNvPr id="33" name="Text 31"/>
          <p:cNvSpPr/>
          <p:nvPr/>
        </p:nvSpPr>
        <p:spPr>
          <a:xfrm>
            <a:off x="4809744" y="3886200"/>
            <a:ext cx="2029968" cy="237744"/>
          </a:xfrm>
          <a:prstGeom prst="rect">
            <a:avLst/>
          </a:prstGeom>
          <a:noFill/>
          <a:ln/>
        </p:spPr>
        <p:txBody>
          <a:bodyPr wrap="square" lIns="0" tIns="0" rIns="0" bIns="0" rtlCol="0" anchor="ctr"/>
          <a:lstStyle/>
          <a:p>
            <a:pPr algn="ctr" indent="0" marL="0">
              <a:buNone/>
            </a:pPr>
            <a:r>
              <a:rPr lang="en-US" sz="650" b="1" spc="50" kern="0" dirty="0">
                <a:solidFill>
                  <a:srgbClr val="0D0D0D"/>
                </a:solidFill>
                <a:latin typeface="Courier New" pitchFamily="34" charset="0"/>
                <a:ea typeface="Courier New" pitchFamily="34" charset="-122"/>
                <a:cs typeface="Courier New" pitchFamily="34" charset="-120"/>
              </a:rPr>
              <a:t>MARKET REWARDS</a:t>
            </a:r>
            <a:endParaRPr lang="en-US" sz="650" dirty="0"/>
          </a:p>
        </p:txBody>
      </p:sp>
      <p:sp>
        <p:nvSpPr>
          <p:cNvPr id="34" name="Text 32"/>
          <p:cNvSpPr/>
          <p:nvPr/>
        </p:nvSpPr>
        <p:spPr>
          <a:xfrm>
            <a:off x="4901184" y="4169664"/>
            <a:ext cx="1847088" cy="658368"/>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Referrals, leaderboard, quality scoring.</a:t>
            </a:r>
            <a:endParaRPr lang="en-US" sz="800" dirty="0"/>
          </a:p>
        </p:txBody>
      </p:sp>
      <p:sp>
        <p:nvSpPr>
          <p:cNvPr id="35" name="Shape 33"/>
          <p:cNvSpPr/>
          <p:nvPr/>
        </p:nvSpPr>
        <p:spPr>
          <a:xfrm>
            <a:off x="7022592" y="3886200"/>
            <a:ext cx="2029968" cy="1005840"/>
          </a:xfrm>
          <a:prstGeom prst="rect">
            <a:avLst/>
          </a:prstGeom>
          <a:solidFill>
            <a:srgbClr val="1A1A1A"/>
          </a:solidFill>
          <a:ln w="19050">
            <a:solidFill>
              <a:srgbClr val="FFC400"/>
            </a:solidFill>
            <a:prstDash val="solid"/>
          </a:ln>
        </p:spPr>
      </p:sp>
      <p:sp>
        <p:nvSpPr>
          <p:cNvPr id="36" name="Shape 34"/>
          <p:cNvSpPr/>
          <p:nvPr/>
        </p:nvSpPr>
        <p:spPr>
          <a:xfrm>
            <a:off x="7022592" y="3886200"/>
            <a:ext cx="2029968" cy="237744"/>
          </a:xfrm>
          <a:prstGeom prst="rect">
            <a:avLst/>
          </a:prstGeom>
          <a:solidFill>
            <a:srgbClr val="FFC400"/>
          </a:solidFill>
          <a:ln w="12700">
            <a:solidFill>
              <a:srgbClr val="FFC400"/>
            </a:solidFill>
            <a:prstDash val="solid"/>
          </a:ln>
        </p:spPr>
      </p:sp>
      <p:sp>
        <p:nvSpPr>
          <p:cNvPr id="37" name="Text 35"/>
          <p:cNvSpPr/>
          <p:nvPr/>
        </p:nvSpPr>
        <p:spPr>
          <a:xfrm>
            <a:off x="7022592" y="3886200"/>
            <a:ext cx="2029968" cy="237744"/>
          </a:xfrm>
          <a:prstGeom prst="rect">
            <a:avLst/>
          </a:prstGeom>
          <a:noFill/>
          <a:ln/>
        </p:spPr>
        <p:txBody>
          <a:bodyPr wrap="square" lIns="0" tIns="0" rIns="0" bIns="0" rtlCol="0" anchor="ctr"/>
          <a:lstStyle/>
          <a:p>
            <a:pPr algn="ctr" indent="0" marL="0">
              <a:buNone/>
            </a:pPr>
            <a:r>
              <a:rPr lang="en-US" sz="650" b="1" spc="50" kern="0" dirty="0">
                <a:solidFill>
                  <a:srgbClr val="0D0D0D"/>
                </a:solidFill>
                <a:latin typeface="Courier New" pitchFamily="34" charset="0"/>
                <a:ea typeface="Courier New" pitchFamily="34" charset="-122"/>
                <a:cs typeface="Courier New" pitchFamily="34" charset="-120"/>
              </a:rPr>
              <a:t>WEEKLY EARNERS</a:t>
            </a:r>
            <a:endParaRPr lang="en-US" sz="650" dirty="0"/>
          </a:p>
        </p:txBody>
      </p:sp>
      <p:sp>
        <p:nvSpPr>
          <p:cNvPr id="38" name="Text 36"/>
          <p:cNvSpPr/>
          <p:nvPr/>
        </p:nvSpPr>
        <p:spPr>
          <a:xfrm>
            <a:off x="7114032" y="4169664"/>
            <a:ext cx="1847088" cy="658368"/>
          </a:xfrm>
          <a:prstGeom prst="rect">
            <a:avLst/>
          </a:prstGeom>
          <a:noFill/>
          <a:ln/>
        </p:spPr>
        <p:txBody>
          <a:bodyPr wrap="square" lIns="0" tIns="0" rIns="0" bIns="0" rtlCol="0" anchor="ctr"/>
          <a:lstStyle/>
          <a:p>
            <a:pPr indent="0" marL="0">
              <a:buNone/>
            </a:pPr>
            <a:r>
              <a:rPr lang="en-US" sz="800" dirty="0">
                <a:solidFill>
                  <a:srgbClr val="888888"/>
                </a:solidFill>
                <a:latin typeface="Courier New" pitchFamily="34" charset="0"/>
                <a:ea typeface="Courier New" pitchFamily="34" charset="-122"/>
                <a:cs typeface="Courier New" pitchFamily="34" charset="-120"/>
              </a:rPr>
              <a:t>Retention loop. Habit formation. Track it.</a:t>
            </a:r>
            <a:endParaRPr lang="en-US" sz="800" dirty="0"/>
          </a:p>
        </p:txBody>
      </p:sp>
      <p:sp>
        <p:nvSpPr>
          <p:cNvPr id="39" name="Text 37"/>
          <p:cNvSpPr/>
          <p:nvPr/>
        </p:nvSpPr>
        <p:spPr>
          <a:xfrm>
            <a:off x="6858000" y="4956048"/>
            <a:ext cx="1920240" cy="164592"/>
          </a:xfrm>
          <a:prstGeom prst="rect">
            <a:avLst/>
          </a:prstGeom>
          <a:noFill/>
          <a:ln/>
        </p:spPr>
        <p:txBody>
          <a:bodyPr wrap="square" lIns="0" tIns="0" rIns="0" bIns="0" rtlCol="0" anchor="ctr"/>
          <a:lstStyle/>
          <a:p>
            <a:pPr algn="r" indent="0" marL="0">
              <a:buNone/>
            </a:pPr>
            <a:r>
              <a:rPr lang="en-US" sz="800" dirty="0">
                <a:solidFill>
                  <a:srgbClr val="888888"/>
                </a:solidFill>
                <a:latin typeface="Courier New" pitchFamily="34" charset="0"/>
                <a:ea typeface="Courier New" pitchFamily="34" charset="-122"/>
                <a:cs typeface="Courier New" pitchFamily="34" charset="-120"/>
              </a:rPr>
              <a:t>ads.sovseas.xyz</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SovAds · GoodBuilders S3 · Final Arc</dc:title>
  <dc:subject>PptxGenJS Presentation</dc:subject>
  <dc:creator>PptxGenJS</dc:creator>
  <cp:lastModifiedBy>PptxGenJS</cp:lastModifiedBy>
  <cp:revision>1</cp:revision>
  <dcterms:created xsi:type="dcterms:W3CDTF">2026-05-12T11:12:11Z</dcterms:created>
  <dcterms:modified xsi:type="dcterms:W3CDTF">2026-05-12T11:12:11Z</dcterms:modified>
</cp:coreProperties>
</file>